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Apps in production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E2E8F0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D3A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Productivity</c:v>
                  </c:pt>
                  <c:pt idx="1">
                    <c:v>Data &amp; files</c:v>
                  </c:pt>
                  <c:pt idx="2">
                    <c:v>Utilities</c:v>
                  </c:pt>
                  <c:pt idx="3">
                    <c:v>Media &amp; tools</c:v>
                  </c:pt>
                  <c:pt idx="4">
                    <c:v>Reference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7</c:v>
                </c:pt>
                <c:pt idx="2">
                  <c:v>6</c:v>
                </c:pt>
                <c:pt idx="3">
                  <c:v>5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800" u="none">
                  <a:solidFill>
                    <a:srgbClr val="E2E8F0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4365A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1824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4365A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420"/>
        </a:solidFill>
        <a:ln>
          <a:noFill/>
        </a:ln>
        <a:effectLst/>
      </c:spPr>
    </c:plotArea>
    <c:plotVisOnly val="1"/>
    <c:dispBlanksAs val="span"/>
  </c:chart>
  <c:spPr>
    <a:solidFill>
      <a:srgbClr val="0D1420"/>
    </a:solidFill>
    <a:ln w="12700" cap="flat">
      <a:solidFill>
        <a:srgbClr val="24365A"/>
      </a:solidFill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production apps</c:v>
                </c:pt>
              </c:strCache>
            </c:strRef>
          </c:tx>
          <c:spPr>
            <a:solidFill>
              <a:srgbClr val="3B82F6"/>
            </a:solidFill>
            <a:ln w="31750" cap="flat">
              <a:solidFill>
                <a:srgbClr val="3B82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Q2 2024</c:v>
                  </c:pt>
                  <c:pt idx="1">
                    <c:v>Q4 2024</c:v>
                  </c:pt>
                  <c:pt idx="2">
                    <c:v>Q2 2025</c:v>
                  </c:pt>
                  <c:pt idx="3">
                    <c:v>Q4 2025</c:v>
                  </c:pt>
                  <c:pt idx="4">
                    <c:v>Q2 2026</c:v>
                  </c:pt>
                  <c:pt idx="5">
                    <c:v>Q3 2026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9</c:v>
                </c:pt>
                <c:pt idx="2">
                  <c:v>16</c:v>
                </c:pt>
                <c:pt idx="3">
                  <c:v>22</c:v>
                </c:pt>
                <c:pt idx="4">
                  <c:v>27</c:v>
                </c:pt>
                <c:pt idx="5">
                  <c:v>31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4365A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1824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4365A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420"/>
        </a:solidFill>
        <a:ln>
          <a:noFill/>
        </a:ln>
        <a:effectLst/>
      </c:spPr>
    </c:plotArea>
    <c:plotVisOnly val="1"/>
    <c:dispBlanksAs val="span"/>
  </c:chart>
  <c:spPr>
    <a:solidFill>
      <a:srgbClr val="0D1420"/>
    </a:solidFill>
    <a:ln w="12700" cap="flat">
      <a:solidFill>
        <a:srgbClr val="24365A"/>
      </a:solidFill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Breakdown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bubble3D val="0"/>
            <c:spPr>
              <a:solidFill>
                <a:srgbClr val="06B6D4"/>
              </a:solidFill>
              <a:effectLst/>
            </c:spPr>
          </c:dPt>
          <c:dPt>
            <c:idx val="2"/>
            <c:bubble3D val="0"/>
            <c:spPr>
              <a:solidFill>
                <a:srgbClr val="22D3A0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E2E8F0"/>
                      </a:solidFill>
                      <a:latin typeface="Segoe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E2E8F0"/>
                      </a:solidFill>
                      <a:latin typeface="Segoe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E2E8F0"/>
                      </a:solidFill>
                      <a:latin typeface="Segoe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E2E8F0"/>
                      </a:solidFill>
                      <a:latin typeface="Segoe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E2E8F0"/>
                      </a:solidFill>
                      <a:latin typeface="Segoe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Build</c:v>
                </c:pt>
                <c:pt idx="1">
                  <c:v>QA &amp; gates</c:v>
                </c:pt>
                <c:pt idx="2">
                  <c:v>Coordination</c:v>
                </c:pt>
                <c:pt idx="3">
                  <c:v>Docs &amp; status</c:v>
                </c:pt>
                <c:pt idx="4">
                  <c:v>Version &amp; backup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</c:ser>
        <c:firstSliceAng val="0"/>
        <c:holeSize val="60"/>
      </c:doughnutChart>
      <c:spPr>
        <a:solidFill>
          <a:srgbClr val="0D1420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800">
              <a:solidFill>
                <a:srgbClr val="CBD5E1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</c:chart>
  <c:spPr>
    <a:solidFill>
      <a:srgbClr val="0D1420"/>
    </a:solidFill>
    <a:ln w="12700" cap="flat">
      <a:solidFill>
        <a:srgbClr val="24365A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introduce yourself and this deck, "Zalin Labs: One Founder, Nine AI Agents, 30+ Apps". | Transition: next up - "What this deck covers".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What this deck covers | Agenda: The premise: AI changed the economics of software; The suite: 30+ production apps and the platform behind them; The pipeline: brief to shipped, gated at every step; The stack: five layers from kernel to boring rules; The numbers: 30+ apps, 9+ agents, 8.7K+ LOC; The operations: rooms, queues, approvals, watchdog | Transition: next up - "AI changed the economics of software - and raised the discipline bar".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AI changed the economics of software - and raised the discipline bar | Talk track: Zalin Labs is organized around that premise end to end. | Transition: next up - "One laptop, one founder, real production numbers".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One laptop, one founder, real production numbers | Talk track: A one-person company is not a smaller team; it is a different architecture. | Transition: next up - "The pipeline is the product: brief to shipped in five stages".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The pipeline is the product: brief to shipped in five stages | Talk track: With 30+ apps you do not maintain apps; you maintain a pipeline. | Transition: next up - "Five layers replace the headcount".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Five layers replace the headcount | Talk track: None of this is glamorous; all of it is why the layers above stay standing. | Transition: next up - "30+ production apps across everyday categories".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30+ production apps across everyday categories | Insight: A portfolio this size survives only because maintenance is a pipeline, not a heroic effort. | Talk track: Category counts, illustrative - every app live, versioned, and supported. | Transition: next up - "Shipping cadence compounds once the pipeline holds".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Shipping cadence compounds once the pipeline holds | Insight: Growth came from parallel agent work under gates, not from longer hours. | Talk track: Cumulative count since founding, April 2024 to September 2026. | Transition: next up - "A quarter of every release cycle is QA and evidence".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A quarter of every release cycle is QA and evidence | Insight: Speed without gates is debt at machine pace, so the gates get real time. | Talk track: Illustrative effort split per release cycle across the suite. | Transition: next up - "Hero mode vs protocol mode".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Hero mode vs protocol mode | Talk track: The agents are the workforce; the protocols are the company. | Transition: next up - "Operations run on protocols, approved by humans".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Operations run on protocols, approved by humans | Talk track: Impersonation is structurally impossible when identity and verdicts are visible. | Transition: next up - "What it actually looks like to run this".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What it actually looks like to run this | Talk track: Boring, repeatable, and measurable - which is exactly why it scales. | Transition: next up - "Need a builder who ships like a team?".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Need a builder who ships like a team? | Transition: close with the call to action on the contact slide,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ZALIN LABS · COMPANY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10607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Zalin Labs: One Founder, Nine AI Agents, 30+ Apps</a:t>
            </a:r>
            <a:endParaRPr lang="en-US" sz="41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portfolio of production Android apps plus the full company platform behind them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411480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5321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Rezalian Vatiady · Zalin Labs · 2026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13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deck covers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72184" y="2011680"/>
            <a:ext cx="44439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premise: AI changed the economics of software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68680" y="3182112"/>
            <a:ext cx="457200" cy="457200"/>
          </a:xfrm>
          <a:prstGeom prst="ellipse">
            <a:avLst/>
          </a:prstGeom>
          <a:solidFill>
            <a:srgbClr val="11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182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72184" y="3090672"/>
            <a:ext cx="44439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suite: 30+ production apps and the platform behind them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68680" y="4261104"/>
            <a:ext cx="457200" cy="457200"/>
          </a:xfrm>
          <a:prstGeom prst="ellipse">
            <a:avLst/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261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72184" y="4169664"/>
            <a:ext cx="44439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pipeline: brief to shipped, gated at every step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355080" y="2103120"/>
            <a:ext cx="457200" cy="457200"/>
          </a:xfrm>
          <a:prstGeom prst="ellipse">
            <a:avLst/>
          </a:prstGeom>
          <a:solidFill>
            <a:srgbClr val="11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58584" y="2011680"/>
            <a:ext cx="44439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stack: five layers from kernel to boring rules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355080" y="3182112"/>
            <a:ext cx="457200" cy="457200"/>
          </a:xfrm>
          <a:prstGeom prst="ellipse">
            <a:avLst/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3182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58584" y="3090672"/>
            <a:ext cx="44439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numbers: 30+ apps, 9+ agents, 8.7K+ LOC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355080" y="4261104"/>
            <a:ext cx="457200" cy="457200"/>
          </a:xfrm>
          <a:prstGeom prst="ellipse">
            <a:avLst/>
          </a:prstGeom>
          <a:solidFill>
            <a:srgbClr val="11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4261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58584" y="4169664"/>
            <a:ext cx="44439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operations: rooms, queues, approvals, watchdog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13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PREMISE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changed the economics of software - and raised the discipline bar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disciplined founder with reliable agents outships a distracted team, because leverage is now programmable.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Speed is cheap, so quality gates become the differentiator instead of headcount.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release must be provably good, not hopefully good - evidence is the currency.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one resource that stayed scarce is judgment, so the whole architecture is built around it.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Zalin Labs is organized around that premise end to end.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SCOREBOARD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laptop, one founder, real production numbers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2423160" cy="3154680"/>
          </a:xfrm>
          <a:prstGeom prst="roundRect">
            <a:avLst>
              <a:gd name="adj" fmla="val 3019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945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30+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960120" y="320040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apps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41148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Android apps that ship, update, and get supported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520440" y="1965960"/>
            <a:ext cx="2423160" cy="3154680"/>
          </a:xfrm>
          <a:prstGeom prst="roundRect">
            <a:avLst>
              <a:gd name="adj" fmla="val 3019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1945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9+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657600" y="320040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03320" y="41148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human plus a specialist workforce under gated releases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0" y="1965960"/>
            <a:ext cx="2423160" cy="3154680"/>
          </a:xfrm>
          <a:prstGeom prst="roundRect">
            <a:avLst>
              <a:gd name="adj" fmla="val 3019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1945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D3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8.7K+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355080" y="320040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 frameworks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41148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ODIS and the Web Scraping Toolkit, both open source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915400" y="1965960"/>
            <a:ext cx="2423160" cy="3154680"/>
          </a:xfrm>
          <a:prstGeom prst="roundRect">
            <a:avLst>
              <a:gd name="adj" fmla="val 3019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0" y="21945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9052560" y="320040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Router accuracy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098280" y="41148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the 30-query validation set, with 51/52 production checks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22960" y="532180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3949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A one-person company is not a smaller team; it is a different architecture.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13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PIPELINE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pipeline is the product: brief to shipped in five stages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774040" y="2331720"/>
            <a:ext cx="1938528" cy="2697480"/>
          </a:xfrm>
          <a:prstGeom prst="roundRect">
            <a:avLst>
              <a:gd name="adj" fmla="val 3302"/>
            </a:avLst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2056" y="2450592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02056" y="2834640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Brief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2056" y="3584448"/>
            <a:ext cx="16824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enters as a structured brief, in the same format every time.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26284" y="3566160"/>
            <a:ext cx="210312" cy="274320"/>
          </a:xfrm>
          <a:prstGeom prst="rightArrow">
            <a:avLst/>
          </a:prstGeom>
          <a:solidFill>
            <a:srgbClr val="06B6D4"/>
          </a:solidFill>
          <a:ln/>
        </p:spPr>
      </p:sp>
      <p:sp>
        <p:nvSpPr>
          <p:cNvPr id="11" name="Shape 9"/>
          <p:cNvSpPr/>
          <p:nvPr/>
        </p:nvSpPr>
        <p:spPr>
          <a:xfrm>
            <a:off x="2950312" y="2331720"/>
            <a:ext cx="1938528" cy="2697480"/>
          </a:xfrm>
          <a:prstGeom prst="roundRect">
            <a:avLst>
              <a:gd name="adj" fmla="val 3302"/>
            </a:avLst>
          </a:prstGeom>
          <a:solidFill>
            <a:srgbClr val="11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78328" y="2450592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078328" y="2834640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78328" y="3584448"/>
            <a:ext cx="16824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 agents produce versioned APKs from structured specs.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902556" y="3566160"/>
            <a:ext cx="210312" cy="274320"/>
          </a:xfrm>
          <a:prstGeom prst="rightArrow">
            <a:avLst/>
          </a:prstGeom>
          <a:solidFill>
            <a:srgbClr val="06B6D4"/>
          </a:solidFill>
          <a:ln/>
        </p:spPr>
      </p:sp>
      <p:sp>
        <p:nvSpPr>
          <p:cNvPr id="16" name="Shape 14"/>
          <p:cNvSpPr/>
          <p:nvPr/>
        </p:nvSpPr>
        <p:spPr>
          <a:xfrm>
            <a:off x="5126584" y="2331720"/>
            <a:ext cx="1938528" cy="2697480"/>
          </a:xfrm>
          <a:prstGeom prst="roundRect">
            <a:avLst>
              <a:gd name="adj" fmla="val 3302"/>
            </a:avLst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4600" y="2450592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54600" y="2834640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54600" y="3584448"/>
            <a:ext cx="16824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 walks the golden path, sweeps for dead buttons, and checks offline behavior.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078828" y="3566160"/>
            <a:ext cx="210312" cy="274320"/>
          </a:xfrm>
          <a:prstGeom prst="rightArrow">
            <a:avLst/>
          </a:prstGeom>
          <a:solidFill>
            <a:srgbClr val="06B6D4"/>
          </a:solidFill>
          <a:ln/>
        </p:spPr>
      </p:sp>
      <p:sp>
        <p:nvSpPr>
          <p:cNvPr id="21" name="Shape 19"/>
          <p:cNvSpPr/>
          <p:nvPr/>
        </p:nvSpPr>
        <p:spPr>
          <a:xfrm>
            <a:off x="7302856" y="2331720"/>
            <a:ext cx="1938528" cy="2697480"/>
          </a:xfrm>
          <a:prstGeom prst="roundRect">
            <a:avLst>
              <a:gd name="adj" fmla="val 3302"/>
            </a:avLst>
          </a:prstGeom>
          <a:solidFill>
            <a:srgbClr val="11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30872" y="2450592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30872" y="2834640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Promote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430872" y="3584448"/>
            <a:ext cx="16824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versions land in one promote folder while the previous build is archived.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255100" y="3566160"/>
            <a:ext cx="210312" cy="274320"/>
          </a:xfrm>
          <a:prstGeom prst="rightArrow">
            <a:avLst/>
          </a:prstGeom>
          <a:solidFill>
            <a:srgbClr val="06B6D4"/>
          </a:solidFill>
          <a:ln/>
        </p:spPr>
      </p:sp>
      <p:sp>
        <p:nvSpPr>
          <p:cNvPr id="26" name="Shape 24"/>
          <p:cNvSpPr/>
          <p:nvPr/>
        </p:nvSpPr>
        <p:spPr>
          <a:xfrm>
            <a:off x="9479128" y="2331720"/>
            <a:ext cx="1938528" cy="2697480"/>
          </a:xfrm>
          <a:prstGeom prst="roundRect">
            <a:avLst>
              <a:gd name="adj" fmla="val 3302"/>
            </a:avLst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7144" y="2450592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607144" y="2834640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607144" y="3584448"/>
            <a:ext cx="16824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Features, versions, and decisions are written down - or it did not happen.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30+ apps you do not maintain apps; you maintain a pipeline.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13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STACK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layers replace the headcount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15600" cy="91440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Layer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Component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system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ZalinOS kernel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Intent routing, agent lifecycle, shared memory, quality gates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Workforce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9+ specialist agents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Engineering, QA, PM, docs, secretary, data, GIS, OSINT, watchdog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Product pipeline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Gated release line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Structured specs, versioned builds, one promote folder, per-app status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Open-source base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ODIS + Web Scraping Toolkit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8.7K+ lines of data and collection infrastructure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rules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Boring non-negotiables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Evidence over claims, backups before updates, one place for everything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 of this is glamorous; all of it is why the layers above stay standing.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13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SUITE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30+ production apps across everyday categories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874520"/>
          <a:ext cx="105156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32180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3949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A portfolio this size survives only because maintenance is a pipeline, not a heroic effort.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 counts, illustrative - every app live, versioned, and supported.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13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TRAJECTORY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Shipping cadence compounds once the pipeline holds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874520"/>
          <a:ext cx="105156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32180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3949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Growth came from parallel agent work under gates, not from longer hours.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Cumulative count since founding, April 2024 to September 2026.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13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EFFORT GOES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quarter of every release cycle is QA and evidence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783080"/>
          <a:ext cx="105156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32180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3949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Speed without gates is debt at machine pace, so the gates get real time.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effort split per release cycle across the suite.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13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OPERATING MODEL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Hero mode vs protocol mode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074920" cy="3657600"/>
          </a:xfrm>
          <a:prstGeom prst="roundRect">
            <a:avLst>
              <a:gd name="adj" fmla="val 2000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19456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Hero mode (the old way)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834640"/>
            <a:ext cx="455371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Execution depends on one person's energy and memory</a:t>
            </a:r>
            <a:endParaRPr lang="en-US" sz="18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Releases ship hopefully, with quiet failures found by users</a:t>
            </a:r>
            <a:endParaRPr lang="en-US" sz="18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lives in chat scrolls and in someone's head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91072" y="1965960"/>
            <a:ext cx="5074920" cy="3657600"/>
          </a:xfrm>
          <a:prstGeom prst="roundRect">
            <a:avLst>
              <a:gd name="adj" fmla="val 2000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219456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Protocol mode (Zalin Labs)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65392" y="2834640"/>
            <a:ext cx="455371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execute in parallel; the founder owns judgment and trade-offs</a:t>
            </a:r>
            <a:endParaRPr lang="en-US" sz="18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Releases ship provably, with evidence a stranger could audit</a:t>
            </a:r>
            <a:endParaRPr lang="en-US" sz="18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surprise becomes a written lesson before the day ends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agents are the workforce; the protocols are the company.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13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 run on protocols, approved by humans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Coordination happens in shared rooms, so decisions are visible and auditable instead of whispered.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Per-agent queues keep parallel work from colliding, with explicit pause, resume, and skip.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never approve their own releases; decisions route through the founder via an approval queue.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watchdog detects misbehaving machines and recovers them, because honest red beats fake green.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Impersonation is structurally impossible when identity and verdicts are visible.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13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TO DAY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actually looks like to run this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Briefs go in and status comes out in the same format every time, across every app.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agents work in parallel across the suite without stepping on each other.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promote folder always answers one question: what is the newest build of every app?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founder is the bottleneck for judgment, not for execution - which is the right trade.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Boring, repeatable, and measurable - which is exactly why it scales.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13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4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 WITH ME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 a builder who ships like a team?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011680" y="3383280"/>
            <a:ext cx="81838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build AI-automated product pipelines and platforms that stay maintainable without headcount.</a:t>
            </a:r>
            <a:pPr algn="ctr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Available for AI automation, data engineering, and scraping projects via Upwork, worldwide.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566160" y="5212080"/>
            <a:ext cx="50749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3492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rezalianvatiady.github.io · github.com/rezalianvatiady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13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Zalin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Zalin Labs: One Founder, Nine AI Agents, 30+ Apps</dc:title>
  <dc:subject>PptxGenJS Presentation</dc:subject>
  <dc:creator>Rezalian Vatiady</dc:creator>
  <cp:lastModifiedBy>Rezalian Vatiady</cp:lastModifiedBy>
  <cp:revision>1</cp:revision>
  <dcterms:created xsi:type="dcterms:W3CDTF">2026-09-23T19:52:38Z</dcterms:created>
  <dcterms:modified xsi:type="dcterms:W3CDTF">2026-09-23T19:52:38Z</dcterms:modified>
</cp:coreProperties>
</file>