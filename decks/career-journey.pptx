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6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7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8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_rels/chart1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7.xlsx"/></Relationships>
</file>

<file path=ppt/charts/_rels/chart1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8.xlsx"/></Relationships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Decision authority (illustrative index)</c:v>
                </c:pt>
              </c:strCache>
            </c:strRef>
          </c:tx>
          <c:spPr>
            <a:solidFill>
              <a:srgbClr val="3B82F6"/>
            </a:solidFill>
            <a:ln w="31750" cap="flat">
              <a:solidFill>
                <a:srgbClr val="3B82F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3B82F6"/>
              </a:solidFill>
              <a:ln w="9525" cap="flat">
                <a:solidFill>
                  <a:srgbClr val="3B82F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Tokopedia 2022</c:v>
                  </c:pt>
                  <c:pt idx="1">
                    <c:v>BRI 2023</c:v>
                  </c:pt>
                  <c:pt idx="2">
                    <c:v>IKEA 2023-24</c:v>
                  </c:pt>
                  <c:pt idx="3">
                    <c:v>Zalin Labs 2024+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</c:v>
                </c:pt>
                <c:pt idx="1">
                  <c:v>3</c:v>
                </c:pt>
                <c:pt idx="2">
                  <c:v>5</c:v>
                </c:pt>
                <c:pt idx="3">
                  <c:v>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Automation leverage (illustrative index)</c:v>
                </c:pt>
              </c:strCache>
            </c:strRef>
          </c:tx>
          <c:spPr>
            <a:solidFill>
              <a:srgbClr val="06B6D4"/>
            </a:solidFill>
            <a:ln w="31750" cap="flat">
              <a:solidFill>
                <a:srgbClr val="06B6D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6B6D4"/>
              </a:solidFill>
              <a:ln w="9525" cap="flat">
                <a:solidFill>
                  <a:srgbClr val="06B6D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Tokopedia 2022</c:v>
                  </c:pt>
                  <c:pt idx="1">
                    <c:v>BRI 2023</c:v>
                  </c:pt>
                  <c:pt idx="2">
                    <c:v>IKEA 2023-24</c:v>
                  </c:pt>
                  <c:pt idx="3">
                    <c:v>Zalin Labs 2024+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10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24365A"/>
            </a:solidFill>
            <a:prstDash val="solid"/>
            <a:round/>
          </a:ln>
        </c:spPr>
        <c:txPr>
          <a:bodyPr/>
          <a:lstStyle/>
          <a:p>
            <a:pPr>
              <a:defRPr sz="1800" b="0" i="0" u="none" strike="noStrike">
                <a:solidFill>
                  <a:srgbClr val="94A3B8"/>
                </a:solidFill>
                <a:latin typeface="Segoe U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18243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24365A"/>
            </a:solidFill>
            <a:prstDash val="solid"/>
            <a:round/>
          </a:ln>
        </c:spPr>
        <c:txPr>
          <a:bodyPr/>
          <a:lstStyle/>
          <a:p>
            <a:pPr>
              <a:defRPr sz="1800" b="0" i="0" u="none" strike="noStrike">
                <a:solidFill>
                  <a:srgbClr val="94A3B8"/>
                </a:solidFill>
                <a:latin typeface="Segoe U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D1420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800">
              <a:solidFill>
                <a:srgbClr val="CBD5E1"/>
              </a:solidFill>
              <a:latin typeface="Segoe UI"/>
              <a:cs typeface="Segoe UI"/>
            </a:defRPr>
          </a:pPr>
          <a:endParaRPr lang="en-US"/>
        </a:p>
      </c:txPr>
    </c:legend>
    <c:plotVisOnly val="1"/>
    <c:dispBlanksAs val="span"/>
  </c:chart>
  <c:spPr>
    <a:solidFill>
      <a:srgbClr val="0D1420"/>
    </a:solidFill>
    <a:ln w="12700" cap="flat">
      <a:solidFill>
        <a:srgbClr val="24365A"/>
      </a:solidFill>
    </a:ln>
    <a:effectLst/>
  </c:sp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Breakdown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3B82F6"/>
              </a:solidFill>
              <a:effectLst/>
            </c:spPr>
          </c:dPt>
          <c:dPt>
            <c:idx val="1"/>
            <c:bubble3D val="0"/>
            <c:spPr>
              <a:solidFill>
                <a:srgbClr val="06B6D4"/>
              </a:solidFill>
              <a:effectLst/>
            </c:spPr>
          </c:dPt>
          <c:dPt>
            <c:idx val="2"/>
            <c:bubble3D val="0"/>
            <c:spPr>
              <a:solidFill>
                <a:srgbClr val="22D3A0"/>
              </a:solidFill>
              <a:effectLst/>
            </c:spPr>
          </c:dPt>
          <c:dPt>
            <c:idx val="3"/>
            <c:bubble3D val="0"/>
            <c:spPr>
              <a:solidFill>
                <a:srgbClr val="F59E0B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800" b="0" i="0" u="none" strike="noStrike">
                      <a:solidFill>
                        <a:srgbClr val="E2E8F0"/>
                      </a:solidFill>
                      <a:latin typeface="Segoe U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800" b="0" i="0" u="none" strike="noStrike">
                      <a:solidFill>
                        <a:srgbClr val="E2E8F0"/>
                      </a:solidFill>
                      <a:latin typeface="Segoe U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800" b="0" i="0" u="none" strike="noStrike">
                      <a:solidFill>
                        <a:srgbClr val="E2E8F0"/>
                      </a:solidFill>
                      <a:latin typeface="Segoe U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800" b="0" i="0" u="none" strike="noStrike">
                      <a:solidFill>
                        <a:srgbClr val="E2E8F0"/>
                      </a:solidFill>
                      <a:latin typeface="Segoe U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Building &amp; shipping</c:v>
                </c:pt>
                <c:pt idx="1">
                  <c:v>Agent orchestration</c:v>
                </c:pt>
                <c:pt idx="2">
                  <c:v>Quality gates &amp; QA</c:v>
                </c:pt>
                <c:pt idx="3">
                  <c:v>Writing &amp; documentation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40</c:v>
                </c:pt>
                <c:pt idx="1">
                  <c:v>25</c:v>
                </c:pt>
                <c:pt idx="2">
                  <c:v>15</c:v>
                </c:pt>
                <c:pt idx="3">
                  <c:v>20</c:v>
                </c:pt>
              </c:numCache>
            </c:numRef>
          </c:val>
        </c:ser>
        <c:firstSliceAng val="0"/>
        <c:holeSize val="60"/>
      </c:doughnutChart>
      <c:spPr>
        <a:solidFill>
          <a:srgbClr val="0D1420"/>
        </a:solidFill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800">
              <a:solidFill>
                <a:srgbClr val="CBD5E1"/>
              </a:solidFill>
              <a:latin typeface="Segoe UI"/>
              <a:cs typeface="Segoe UI"/>
            </a:defRPr>
          </a:pPr>
          <a:endParaRPr lang="en-US"/>
        </a:p>
      </c:txPr>
    </c:legend>
    <c:plotVisOnly val="1"/>
    <c:dispBlanksAs val="span"/>
  </c:chart>
  <c:spPr>
    <a:solidFill>
      <a:srgbClr val="0D1420"/>
    </a:solidFill>
    <a:ln w="12700" cap="flat">
      <a:solidFill>
        <a:srgbClr val="24365A"/>
      </a:solidFill>
    </a:ln>
    <a:effectLst/>
  </c:sp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Public, verifiable count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800" u="none">
                    <a:solidFill>
                      <a:srgbClr val="E2E8F0"/>
                    </a:solidFill>
                    <a:latin typeface="Segoe U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B82F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6B6D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2D3A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Production apps</c:v>
                  </c:pt>
                  <c:pt idx="1">
                    <c:v>Specialist agents</c:v>
                  </c:pt>
                  <c:pt idx="2">
                    <c:v>Production checks passed</c:v>
                  </c:pt>
                  <c:pt idx="3">
                    <c:v>Validation queries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30</c:v>
                </c:pt>
                <c:pt idx="1">
                  <c:v>9</c:v>
                </c:pt>
                <c:pt idx="2">
                  <c:v>51</c:v>
                </c:pt>
                <c:pt idx="3">
                  <c:v>30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800" u="none">
                  <a:solidFill>
                    <a:srgbClr val="E2E8F0"/>
                  </a:solidFill>
                  <a:latin typeface="Segoe U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24365A"/>
            </a:solidFill>
            <a:prstDash val="solid"/>
            <a:round/>
          </a:ln>
        </c:spPr>
        <c:txPr>
          <a:bodyPr/>
          <a:lstStyle/>
          <a:p>
            <a:pPr>
              <a:defRPr sz="1800" b="0" i="0" u="none" strike="noStrike">
                <a:solidFill>
                  <a:srgbClr val="94A3B8"/>
                </a:solidFill>
                <a:latin typeface="Segoe U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18243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24365A"/>
            </a:solidFill>
            <a:prstDash val="solid"/>
            <a:round/>
          </a:ln>
        </c:spPr>
        <c:txPr>
          <a:bodyPr/>
          <a:lstStyle/>
          <a:p>
            <a:pPr>
              <a:defRPr sz="1800" b="0" i="0" u="none" strike="noStrike">
                <a:solidFill>
                  <a:srgbClr val="94A3B8"/>
                </a:solidFill>
                <a:latin typeface="Segoe U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D1420"/>
        </a:solidFill>
        <a:ln>
          <a:noFill/>
        </a:ln>
        <a:effectLst/>
      </c:spPr>
    </c:plotArea>
    <c:plotVisOnly val="1"/>
    <c:dispBlanksAs val="span"/>
  </c:chart>
  <c:spPr>
    <a:solidFill>
      <a:srgbClr val="0D1420"/>
    </a:solidFill>
    <a:ln w="12700" cap="flat">
      <a:solidFill>
        <a:srgbClr val="24365A"/>
      </a:solidFill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Opening: introduce yourself and this deck, "From BI Analyst to AI Company Builder". | Transition: next up - "What this deck covers".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message: What this deck covers | Agenda: The four chapters - and what each one set up; What transferred perfectly from BI to AI building; What I had to unlearn on the way to founder; The proof: apps, agents, frameworks, router checks; Why this combination is rare - and available | Transition: next up - "Four chapters, one direction: every role set up the next".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message: Four chapters, one direction: every role set up the next | Talk track: Analytics fundamentals led to technical analyst roles, then regional platform ownership, then the automation company. | Transition: next up - "Skills that compounded instead of restarting".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message: Skills that compounded instead of restarting | Talk track: Transferable skills are the compounding asset; tools are only the current interface. | Transition: next up - "What the leap has produced so far".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message: What the leap has produced so far | Talk track: All four numbers come from the public portfolio and published build logs. | Transition: next up - "The founder leap is the last step of a steady climb".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message: The founder leap is the last step of a steady climb | Insight: On a resume the founder leap looks sudden; on the skill curve it is the final step of a two-year climb. | Talk track: Indices are illustrative; the chapters, roles, and dates are real. | Transition: next up - "Four chapters, four environments, one direction".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message: Four chapters, four environments, one direction | Talk track: E-commerce, banking, multinational retail, and independent R&amp;D - each one stricter than the last about evidence. | Transition: next up - "The unlearning list every founder pays for".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message: The unlearning list every founder pays for | Talk track: Unlearning caution took months - the gates made it safe to move fast anyway. | Transition: next up - "Where a founder's week actually goes".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message: Where a founder's week actually goes | Insight: Agents absorbed the repetitive majority, so the founder share is decisions, review, and writing - the parts that compound. | Talk track: Illustrative distribution consistent with the published nine-agent operating model. | Transition: next up - "Build the proof before you need it".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message: Build the proof before you need it | Talk track: Credibility was not a certificate - it was shipped work anyone could inspect. | Transition: next up - "The enterprise taught me the system; building taught me the leverage".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message: The enterprise taught me the system; building taught me the leverage | Talk track: Rare profiles are combinations, not specialties: system thinking plus shipping speed. | Transition: next up - "Numbers you can verify in two clicks".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message: Numbers you can verify in two clicks | Insight: Every bar is public today - the live portfolio links to the apps, the platform, and the validation set. | Talk track: Sources: 30+ apps, 9+ agents, 51/52 production checks passing, and the 30-query intent-router validation set. | Transition: next up - "Why this combination is rare".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message: Why this combination is rare | Transition: next up - "Hire the transition, not just the title".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message: Hire the transition, not just the title | Transition: close with the call to action on the contact slide, invite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8096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7680960" y="0"/>
            <a:ext cx="4510735" cy="640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7373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spc="40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ZALIN PLATFORM · CAREER STORY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2240280"/>
            <a:ext cx="1060704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BI Analyst to AI Company Builder</a:t>
            </a:r>
            <a:endParaRPr lang="en-US" sz="4100" dirty="0"/>
          </a:p>
        </p:txBody>
      </p:sp>
      <p:sp>
        <p:nvSpPr>
          <p:cNvPr id="6" name="Text 4"/>
          <p:cNvSpPr/>
          <p:nvPr/>
        </p:nvSpPr>
        <p:spPr>
          <a:xfrm>
            <a:off x="822960" y="397764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Four chapters - Tokopedia, BRI, IKEA, Zalin Labs - and the skills that compounded into 30+ shipped products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22960" y="5349240"/>
            <a:ext cx="4114800" cy="0"/>
          </a:xfrm>
          <a:prstGeom prst="line">
            <a:avLst/>
          </a:prstGeom>
          <a:noFill/>
          <a:ln w="3175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553212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Rezalian Vatiady · Zalin Labs · 2026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698480" y="630936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/ 14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8096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7680960" y="0"/>
            <a:ext cx="4510735" cy="640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45720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spc="30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AGENDA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914400"/>
            <a:ext cx="10561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this deck covers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868680" y="2103120"/>
            <a:ext cx="457200" cy="457200"/>
          </a:xfrm>
          <a:prstGeom prst="ellipse">
            <a:avLst/>
          </a:prstGeom>
          <a:solidFill>
            <a:srgbClr val="111A2E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72184" y="2011680"/>
            <a:ext cx="444398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four chapters - and what each one set up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868680" y="3182112"/>
            <a:ext cx="457200" cy="457200"/>
          </a:xfrm>
          <a:prstGeom prst="ellipse">
            <a:avLst/>
          </a:prstGeom>
          <a:solidFill>
            <a:srgbClr val="111A2E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31821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72184" y="3090672"/>
            <a:ext cx="444398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transferred perfectly from BI to AI building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868680" y="4261104"/>
            <a:ext cx="457200" cy="457200"/>
          </a:xfrm>
          <a:prstGeom prst="ellipse">
            <a:avLst/>
          </a:prstGeom>
          <a:solidFill>
            <a:srgbClr val="111A2E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42611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72184" y="4169664"/>
            <a:ext cx="444398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 had to unlearn on the way to founder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355080" y="2103120"/>
            <a:ext cx="457200" cy="457200"/>
          </a:xfrm>
          <a:prstGeom prst="ellipse">
            <a:avLst/>
          </a:prstGeom>
          <a:solidFill>
            <a:srgbClr val="111A2E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5080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958584" y="2011680"/>
            <a:ext cx="444398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proof: apps, agents, frameworks, router checks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6355080" y="3182112"/>
            <a:ext cx="457200" cy="457200"/>
          </a:xfrm>
          <a:prstGeom prst="ellipse">
            <a:avLst/>
          </a:prstGeom>
          <a:solidFill>
            <a:srgbClr val="111A2E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55080" y="31821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958584" y="3090672"/>
            <a:ext cx="444398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this combination is rare - and available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0698480" y="630936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/ 14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8096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7680960" y="0"/>
            <a:ext cx="4510735" cy="640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45720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spc="30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TIMELINE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914400"/>
            <a:ext cx="10561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Four chapters, one direction: every role set up the next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1371600" y="2907792"/>
            <a:ext cx="9464040" cy="0"/>
          </a:xfrm>
          <a:prstGeom prst="line">
            <a:avLst/>
          </a:prstGeom>
          <a:noFill/>
          <a:ln w="25400">
            <a:solidFill>
              <a:srgbClr val="24365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89304" y="2825496"/>
            <a:ext cx="164592" cy="164592"/>
          </a:xfrm>
          <a:prstGeom prst="ellipse">
            <a:avLst/>
          </a:prstGeom>
          <a:solidFill>
            <a:srgbClr val="3B82F6"/>
          </a:solidFill>
          <a:ln w="19050">
            <a:solidFill>
              <a:srgbClr val="0A0C1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7180" y="2212848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Aug 2022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97180" y="3200400"/>
            <a:ext cx="2148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 Analytics - RevoU × Tokopedia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97180" y="3931920"/>
            <a:ext cx="21488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Segmentation, churn, and feature adoption on real e-commerce data, evaluated by the Tokopedia analytics team.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443984" y="2825496"/>
            <a:ext cx="164592" cy="164592"/>
          </a:xfrm>
          <a:prstGeom prst="ellipse">
            <a:avLst/>
          </a:prstGeom>
          <a:solidFill>
            <a:srgbClr val="06B6D4"/>
          </a:solidFill>
          <a:ln w="19050">
            <a:solidFill>
              <a:srgbClr val="0A0C1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51860" y="2212848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Feb 2023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451860" y="3200400"/>
            <a:ext cx="2148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Business Analyst - BRI AML Project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451860" y="3931920"/>
            <a:ext cx="21488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Graph-database anti-money-laundering analysis: requirements, pattern definition, auditor-ready documentation.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598664" y="2825496"/>
            <a:ext cx="164592" cy="164592"/>
          </a:xfrm>
          <a:prstGeom prst="ellipse">
            <a:avLst/>
          </a:prstGeom>
          <a:solidFill>
            <a:srgbClr val="3B82F6"/>
          </a:solidFill>
          <a:ln w="19050">
            <a:solidFill>
              <a:srgbClr val="0A0C1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06540" y="2212848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Oct 2023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606540" y="3200400"/>
            <a:ext cx="2148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Regional BI Specialist - IKEA Indonesia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606540" y="3931920"/>
            <a:ext cx="21488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 operations for Indonesia, Taiwan, Hong Kong, and Macau: one datalake, Qlik Sense, Alteryx pipelines.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0753344" y="2825496"/>
            <a:ext cx="164592" cy="164592"/>
          </a:xfrm>
          <a:prstGeom prst="ellipse">
            <a:avLst/>
          </a:prstGeom>
          <a:solidFill>
            <a:srgbClr val="06B6D4"/>
          </a:solidFill>
          <a:ln w="19050">
            <a:solidFill>
              <a:srgbClr val="0A0C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761220" y="2212848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Apr 2024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761220" y="3200400"/>
            <a:ext cx="2148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Founder &amp; Lead AI Engineer - Zalin Labs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761220" y="3931920"/>
            <a:ext cx="21488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ZalinOS, a nine-agent workforce, 30+ production apps, and two open-source frameworks - built and shipped solo.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822960" y="5961888"/>
            <a:ext cx="10515600" cy="0"/>
          </a:xfrm>
          <a:prstGeom prst="line">
            <a:avLst/>
          </a:prstGeom>
          <a:noFill/>
          <a:ln w="12700">
            <a:solidFill>
              <a:srgbClr val="1E2D4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6035040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Analytics fundamentals led to technical analyst roles, then regional platform ownership, then the automation company.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0698480" y="630936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/ 14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8096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7680960" y="0"/>
            <a:ext cx="4510735" cy="640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45720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spc="30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TRANSFERRED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914400"/>
            <a:ext cx="10561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Skills that compounded instead of restarting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868680" y="1965960"/>
            <a:ext cx="104241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2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Requirements are 80% of success - unclear questions produce useless answers in analytics and in agent design alike.</a:t>
            </a:r>
            <a:endParaRPr lang="en-US" sz="200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2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quality discipline: an agent company runs on trustworthy internal data, and enterprise BI taught me that paranoia.</a:t>
            </a:r>
            <a:endParaRPr lang="en-US" sz="200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2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Stakeholder communication: explaining AML patterns to auditors is the same muscle as explaining agent behavior to a recruiter.</a:t>
            </a:r>
            <a:endParaRPr lang="en-US" sz="200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2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automation instinct: the best part of every BI job was building the machine that does the job.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22960" y="5961888"/>
            <a:ext cx="10515600" cy="0"/>
          </a:xfrm>
          <a:prstGeom prst="line">
            <a:avLst/>
          </a:prstGeom>
          <a:noFill/>
          <a:ln w="12700">
            <a:solidFill>
              <a:srgbClr val="1E2D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6035040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Transferable skills are the compounding asset; tools are only the current interface.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698480" y="630936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/ 14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8096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7680960" y="0"/>
            <a:ext cx="4510735" cy="640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45720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spc="30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PROOF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914400"/>
            <a:ext cx="10561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the leap has produced so far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822960" y="1965960"/>
            <a:ext cx="2423160" cy="3154680"/>
          </a:xfrm>
          <a:prstGeom prst="roundRect">
            <a:avLst>
              <a:gd name="adj" fmla="val 3019"/>
            </a:avLst>
          </a:prstGeom>
          <a:solidFill>
            <a:srgbClr val="111A2E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194560"/>
            <a:ext cx="2148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30+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960120" y="3200400"/>
            <a:ext cx="2148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Production apps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05840" y="4114800"/>
            <a:ext cx="2057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Shipped, updated, and supported through one gated pipeline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520440" y="1965960"/>
            <a:ext cx="2423160" cy="3154680"/>
          </a:xfrm>
          <a:prstGeom prst="roundRect">
            <a:avLst>
              <a:gd name="adj" fmla="val 3019"/>
            </a:avLst>
          </a:prstGeom>
          <a:solidFill>
            <a:srgbClr val="111A2E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0" y="2194560"/>
            <a:ext cx="2148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9+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3657600" y="3200400"/>
            <a:ext cx="2148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Specialist agents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703320" y="4114800"/>
            <a:ext cx="2057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workforce that builds, tests, documents, and watches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217920" y="1965960"/>
            <a:ext cx="2423160" cy="3154680"/>
          </a:xfrm>
          <a:prstGeom prst="roundRect">
            <a:avLst>
              <a:gd name="adj" fmla="val 3019"/>
            </a:avLst>
          </a:prstGeom>
          <a:solidFill>
            <a:srgbClr val="111A2E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55080" y="2194560"/>
            <a:ext cx="2148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2D3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8.7K+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6355080" y="3200400"/>
            <a:ext cx="2148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Lines of code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00800" y="4114800"/>
            <a:ext cx="2057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Two open-source frameworks any client can audit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915400" y="1965960"/>
            <a:ext cx="2423160" cy="3154680"/>
          </a:xfrm>
          <a:prstGeom prst="roundRect">
            <a:avLst>
              <a:gd name="adj" fmla="val 3019"/>
            </a:avLst>
          </a:prstGeom>
          <a:solidFill>
            <a:srgbClr val="111A2E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052560" y="2194560"/>
            <a:ext cx="2148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51/52</a:t>
            </a:r>
            <a:endParaRPr lang="en-US" sz="3800" dirty="0"/>
          </a:p>
        </p:txBody>
      </p:sp>
      <p:sp>
        <p:nvSpPr>
          <p:cNvPr id="20" name="Text 18"/>
          <p:cNvSpPr/>
          <p:nvPr/>
        </p:nvSpPr>
        <p:spPr>
          <a:xfrm>
            <a:off x="9052560" y="3200400"/>
            <a:ext cx="2148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Production checks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098280" y="4114800"/>
            <a:ext cx="2057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Passing in the live platform, with a 30-query router validation set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822960" y="5321808"/>
            <a:ext cx="10515600" cy="0"/>
          </a:xfrm>
          <a:prstGeom prst="line">
            <a:avLst/>
          </a:prstGeom>
          <a:noFill/>
          <a:ln w="12700">
            <a:solidFill>
              <a:srgbClr val="1E2D4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5394960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 All four numbers come from the public portfolio and published build logs.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698480" y="630936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/ 14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8096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7680960" y="0"/>
            <a:ext cx="4510735" cy="640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45720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spc="30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CURVE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914400"/>
            <a:ext cx="10561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founder leap is the last step of a steady climb</a:t>
            </a:r>
            <a:endParaRPr lang="en-US" sz="27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822960" y="1874520"/>
          <a:ext cx="1051560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822960" y="5321808"/>
            <a:ext cx="10515600" cy="0"/>
          </a:xfrm>
          <a:prstGeom prst="line">
            <a:avLst/>
          </a:prstGeom>
          <a:noFill/>
          <a:ln w="12700">
            <a:solidFill>
              <a:srgbClr val="1E2D4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5394960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 On a resume the founder leap looks sudden; on the skill curve it is the final step of a two-year climb.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822960" y="5961888"/>
            <a:ext cx="10515600" cy="0"/>
          </a:xfrm>
          <a:prstGeom prst="line">
            <a:avLst/>
          </a:prstGeom>
          <a:noFill/>
          <a:ln w="12700">
            <a:solidFill>
              <a:srgbClr val="1E2D4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6035040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Indices are illustrative; the chapters, roles, and dates are real.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0698480" y="630936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/ 14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8096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7680960" y="0"/>
            <a:ext cx="4510735" cy="640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45720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spc="30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 A GLANCE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914400"/>
            <a:ext cx="10561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Four chapters, four environments, one direction</a:t>
            </a:r>
            <a:endParaRPr lang="en-US" sz="27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828800"/>
          <a:ext cx="10515600" cy="914400"/>
        </p:xfrm>
        <a:graphic>
          <a:graphicData uri="http://schemas.openxmlformats.org/drawingml/2006/table">
            <a:tbl>
              <a:tblPr/>
              <a:tblGrid>
                <a:gridCol w="2628900"/>
                <a:gridCol w="2628900"/>
                <a:gridCol w="2628900"/>
                <a:gridCol w="26289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Period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Role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Scope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 stack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Aug-Sep 2022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Data Analytics, RevoU × Tokopedia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Segmentation, churn, and feature adoption on real e-commerce data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Python, SQL, Tableau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Feb-Sep 2023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IT Business Analyst, BRI AML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Graph-based AML analysis, requirements, auditor-facing documentation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Graph Database, SQL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2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Oct 2023-Mar 2024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Regional BI Specialist, IKEA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BI operations across 4 countries, datalake QA, scheduled pipelines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Qlik Sense, Alteryx, SQL Server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Apr 2024-present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Founder &amp; Lead AI Engineer, Zalin Labs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30+ production apps, 9+ agents, 2 open-source frameworks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Python, FastAPI, Ollama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20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822960" y="5961888"/>
            <a:ext cx="10515600" cy="0"/>
          </a:xfrm>
          <a:prstGeom prst="line">
            <a:avLst/>
          </a:prstGeom>
          <a:noFill/>
          <a:ln w="12700">
            <a:solidFill>
              <a:srgbClr val="1E2D4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6035040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E-commerce, banking, multinational retail, and independent R&amp;D - each one stricter than the last about evidence.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0698480" y="630936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/ 14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8096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7680960" y="0"/>
            <a:ext cx="4510735" cy="640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45720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spc="30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DID NOT TRANSFER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914400"/>
            <a:ext cx="10561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unlearning list every founder pays for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868680" y="1965960"/>
            <a:ext cx="104241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2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Waiting for permission: in enterprises change is a process; as a founder it is a Tuesday.</a:t>
            </a:r>
            <a:endParaRPr lang="en-US" sz="200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2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Scope defense: BI rewards protecting boundaries - founders win by crossing them.</a:t>
            </a:r>
            <a:endParaRPr lang="en-US" sz="200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2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Perfectionism before shipping: quality gates replace gold-plating, so evidence ships instead of excuses.</a:t>
            </a:r>
            <a:endParaRPr lang="en-US" sz="200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2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Tool loyalty: stacks expire in a year; validation, documentation, and system thinking compound.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22960" y="5961888"/>
            <a:ext cx="10515600" cy="0"/>
          </a:xfrm>
          <a:prstGeom prst="line">
            <a:avLst/>
          </a:prstGeom>
          <a:noFill/>
          <a:ln w="12700">
            <a:solidFill>
              <a:srgbClr val="1E2D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6035040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Unlearning caution took months - the gates made it safe to move fast anyway.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698480" y="630936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/ 14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8096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7680960" y="0"/>
            <a:ext cx="4510735" cy="640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45720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spc="30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OPERATING RHYTHM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914400"/>
            <a:ext cx="10561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 a founder's week actually goes</a:t>
            </a:r>
            <a:endParaRPr lang="en-US" sz="27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822960" y="1783080"/>
          <a:ext cx="1051560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822960" y="5321808"/>
            <a:ext cx="10515600" cy="0"/>
          </a:xfrm>
          <a:prstGeom prst="line">
            <a:avLst/>
          </a:prstGeom>
          <a:noFill/>
          <a:ln w="12700">
            <a:solidFill>
              <a:srgbClr val="1E2D4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5394960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 Agents absorbed the repetitive majority, so the founder share is decisions, review, and writing - the parts that compound.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822960" y="5961888"/>
            <a:ext cx="10515600" cy="0"/>
          </a:xfrm>
          <a:prstGeom prst="line">
            <a:avLst/>
          </a:prstGeom>
          <a:noFill/>
          <a:ln w="12700">
            <a:solidFill>
              <a:srgbClr val="1E2D4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6035040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Illustrative distribution consistent with the published nine-agent operating model.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0698480" y="630936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/ 14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8096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7680960" y="0"/>
            <a:ext cx="4510735" cy="640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45720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spc="30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METHOD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914400"/>
            <a:ext cx="10561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 the proof before you need it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1075792" y="2331720"/>
            <a:ext cx="2331720" cy="2697480"/>
          </a:xfrm>
          <a:prstGeom prst="roundRect">
            <a:avLst>
              <a:gd name="adj" fmla="val 2745"/>
            </a:avLst>
          </a:prstGeom>
          <a:solidFill>
            <a:srgbClr val="111A2E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03808" y="2450592"/>
            <a:ext cx="20756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03808" y="2834640"/>
            <a:ext cx="207568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Learn in production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03808" y="3584448"/>
            <a:ext cx="207568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Analytics fundamentals sharpened on real client data, not toy datasets.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421228" y="3566160"/>
            <a:ext cx="210312" cy="274320"/>
          </a:xfrm>
          <a:prstGeom prst="rightArrow">
            <a:avLst/>
          </a:prstGeom>
          <a:solidFill>
            <a:srgbClr val="06B6D4"/>
          </a:solidFill>
          <a:ln/>
        </p:spPr>
      </p:sp>
      <p:sp>
        <p:nvSpPr>
          <p:cNvPr id="11" name="Shape 9"/>
          <p:cNvSpPr/>
          <p:nvPr/>
        </p:nvSpPr>
        <p:spPr>
          <a:xfrm>
            <a:off x="3645256" y="2331720"/>
            <a:ext cx="2331720" cy="2697480"/>
          </a:xfrm>
          <a:prstGeom prst="roundRect">
            <a:avLst>
              <a:gd name="adj" fmla="val 2745"/>
            </a:avLst>
          </a:prstGeom>
          <a:solidFill>
            <a:srgbClr val="111A2E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73272" y="2450592"/>
            <a:ext cx="20756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773272" y="2834640"/>
            <a:ext cx="207568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Automate your own job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773272" y="3584448"/>
            <a:ext cx="207568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Pipelines and ETL at IKEA made the automation itch impossible to ignore.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990692" y="3566160"/>
            <a:ext cx="210312" cy="274320"/>
          </a:xfrm>
          <a:prstGeom prst="rightArrow">
            <a:avLst/>
          </a:prstGeom>
          <a:solidFill>
            <a:srgbClr val="06B6D4"/>
          </a:solidFill>
          <a:ln/>
        </p:spPr>
      </p:sp>
      <p:sp>
        <p:nvSpPr>
          <p:cNvPr id="16" name="Shape 14"/>
          <p:cNvSpPr/>
          <p:nvPr/>
        </p:nvSpPr>
        <p:spPr>
          <a:xfrm>
            <a:off x="6214720" y="2331720"/>
            <a:ext cx="2331720" cy="2697480"/>
          </a:xfrm>
          <a:prstGeom prst="roundRect">
            <a:avLst>
              <a:gd name="adj" fmla="val 2745"/>
            </a:avLst>
          </a:prstGeom>
          <a:solidFill>
            <a:srgbClr val="111A2E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42736" y="2450592"/>
            <a:ext cx="20756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342736" y="2834640"/>
            <a:ext cx="207568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Ship public artifacts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342736" y="3584448"/>
            <a:ext cx="207568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Open-source frameworks turned private skill into inspectable proof.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8560156" y="3566160"/>
            <a:ext cx="210312" cy="274320"/>
          </a:xfrm>
          <a:prstGeom prst="rightArrow">
            <a:avLst/>
          </a:prstGeom>
          <a:solidFill>
            <a:srgbClr val="06B6D4"/>
          </a:solidFill>
          <a:ln/>
        </p:spPr>
      </p:sp>
      <p:sp>
        <p:nvSpPr>
          <p:cNvPr id="21" name="Shape 19"/>
          <p:cNvSpPr/>
          <p:nvPr/>
        </p:nvSpPr>
        <p:spPr>
          <a:xfrm>
            <a:off x="8784184" y="2331720"/>
            <a:ext cx="2331720" cy="2697480"/>
          </a:xfrm>
          <a:prstGeom prst="roundRect">
            <a:avLst>
              <a:gd name="adj" fmla="val 2745"/>
            </a:avLst>
          </a:prstGeom>
          <a:solidFill>
            <a:srgbClr val="111A2E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912200" y="2450592"/>
            <a:ext cx="20756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912200" y="2834640"/>
            <a:ext cx="207568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Compound into a company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912200" y="3584448"/>
            <a:ext cx="207568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Zalin Labs: the automation of the automation, under quality gates.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822960" y="5961888"/>
            <a:ext cx="10515600" cy="0"/>
          </a:xfrm>
          <a:prstGeom prst="line">
            <a:avLst/>
          </a:prstGeom>
          <a:noFill/>
          <a:ln w="12700">
            <a:solidFill>
              <a:srgbClr val="1E2D4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" y="6035040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Credibility was not a certificate - it was shipped work anyone could inspect.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0698480" y="630936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14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8096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7680960" y="0"/>
            <a:ext cx="4510735" cy="640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45720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spc="30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MINDSET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914400"/>
            <a:ext cx="10561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enterprise taught me the system; building taught me the leverage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822960" y="1965960"/>
            <a:ext cx="5074920" cy="3657600"/>
          </a:xfrm>
          <a:prstGeom prst="roundRect">
            <a:avLst>
              <a:gd name="adj" fmla="val 2000"/>
            </a:avLst>
          </a:prstGeom>
          <a:solidFill>
            <a:srgbClr val="111A2E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194560"/>
            <a:ext cx="4526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enterprise gave me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97280" y="2834640"/>
            <a:ext cx="4553712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18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Requirements discipline from compliance-grade AML analysis</a:t>
            </a:r>
            <a:endParaRPr lang="en-US" sz="180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18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quality paranoia from datalake reconciliation</a:t>
            </a:r>
            <a:endParaRPr lang="en-US" sz="180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18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Stakeholder trust earned row by row</a:t>
            </a:r>
            <a:endParaRPr lang="en-US" sz="180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18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Respect for process - and for its costs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291072" y="1965960"/>
            <a:ext cx="5074920" cy="3657600"/>
          </a:xfrm>
          <a:prstGeom prst="roundRect">
            <a:avLst>
              <a:gd name="adj" fmla="val 2000"/>
            </a:avLst>
          </a:prstGeom>
          <a:solidFill>
            <a:srgbClr val="111A2E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65392" y="2194560"/>
            <a:ext cx="4526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building added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565392" y="2834640"/>
            <a:ext cx="4553712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18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Shipping as the default, not the exception</a:t>
            </a:r>
            <a:endParaRPr lang="en-US" sz="180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18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Agents as programmable leverage</a:t>
            </a:r>
            <a:endParaRPr lang="en-US" sz="180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18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Evidence over status reports</a:t>
            </a:r>
            <a:endParaRPr lang="en-US" sz="180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18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Decisiveness: change is a Tuesday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22960" y="5961888"/>
            <a:ext cx="10515600" cy="0"/>
          </a:xfrm>
          <a:prstGeom prst="line">
            <a:avLst/>
          </a:prstGeom>
          <a:noFill/>
          <a:ln w="12700">
            <a:solidFill>
              <a:srgbClr val="1E2D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6035040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Rare profiles are combinations, not specialties: system thinking plus shipping speed.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698480" y="630936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14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8096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7680960" y="0"/>
            <a:ext cx="4510735" cy="640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45720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spc="30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RECRUITER CHECK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914400"/>
            <a:ext cx="10561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Numbers you can verify in two clicks</a:t>
            </a:r>
            <a:endParaRPr lang="en-US" sz="27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822960" y="1874520"/>
          <a:ext cx="1051560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822960" y="5321808"/>
            <a:ext cx="10515600" cy="0"/>
          </a:xfrm>
          <a:prstGeom prst="line">
            <a:avLst/>
          </a:prstGeom>
          <a:noFill/>
          <a:ln w="12700">
            <a:solidFill>
              <a:srgbClr val="1E2D4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5394960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 Every bar is public today - the live portfolio links to the apps, the platform, and the validation set.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822960" y="5961888"/>
            <a:ext cx="10515600" cy="0"/>
          </a:xfrm>
          <a:prstGeom prst="line">
            <a:avLst/>
          </a:prstGeom>
          <a:noFill/>
          <a:ln w="12700">
            <a:solidFill>
              <a:srgbClr val="1E2D4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6035040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Sources: 30+ apps, 9+ agents, 51/52 production checks passing, and the 30-query intent-router validation set.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0698480" y="630936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/ 14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8096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7680960" y="0"/>
            <a:ext cx="4510735" cy="640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45720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spc="30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RECRUITERS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914400"/>
            <a:ext cx="10561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this combination is rare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868680" y="1965960"/>
            <a:ext cx="104241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2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 foundations: requirements, data quality, and stakeholder trust from multinational retail and banking.</a:t>
            </a:r>
            <a:endParaRPr lang="en-US" sz="200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2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engineering: agents, intent routing, and local-first systems running in production, not in demos.</a:t>
            </a:r>
            <a:endParaRPr lang="en-US" sz="200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2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Proof of shipping: 30+ production apps, 8.7K+ lines of open source, and a live portfolio anyone can inspect.</a:t>
            </a:r>
            <a:endParaRPr lang="en-US" sz="200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2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Range: e-commerce analytics, banking compliance, four-country BI operations, and company building.</a:t>
            </a:r>
            <a:endParaRPr lang="en-US" sz="200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2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Available now for freelance data scraping, BI, and AI automation worldwide via Upwork.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698480" y="630936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/ 14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8096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7680960" y="0"/>
            <a:ext cx="4510735" cy="640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spc="40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 WITH ME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187452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Hire the transition, not just the title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2011680" y="3383280"/>
            <a:ext cx="818388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Four chapters that compound into one delivery discipline you can audit today</a:t>
            </a:r>
            <a:pPr algn="ctr"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scraping, BI, and AI automation projects delivered worldwide</a:t>
            </a:r>
            <a:pPr algn="ctr"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number in this deck is verifiable on the live portfolio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566160" y="5212080"/>
            <a:ext cx="507492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534924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rezalianvatiady.github.io · github.com/rezalianvatiady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698480" y="630936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/ 14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Zalin Labs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From BI Analyst to AI Company Builder</dc:title>
  <dc:subject>PptxGenJS Presentation</dc:subject>
  <dc:creator>Rezalian Vatiady</dc:creator>
  <cp:lastModifiedBy>Rezalian Vatiady</cp:lastModifiedBy>
  <cp:revision>1</cp:revision>
  <dcterms:created xsi:type="dcterms:W3CDTF">2026-09-23T19:21:28Z</dcterms:created>
  <dcterms:modified xsi:type="dcterms:W3CDTF">2026-09-23T19:21:28Z</dcterms:modified>
</cp:coreProperties>
</file>