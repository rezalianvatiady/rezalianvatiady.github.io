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7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2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2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customers (%)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Loyal regulars</c:v>
                  </c:pt>
                  <c:pt idx="1">
                    <c:v>Deal hunters</c:v>
                  </c:pt>
                  <c:pt idx="2">
                    <c:v>New explorers</c:v>
                  </c:pt>
                  <c:pt idx="3">
                    <c:v>Dormant drifters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</c:v>
                </c:pt>
                <c:pt idx="1">
                  <c:v>31</c:v>
                </c:pt>
                <c:pt idx="2">
                  <c:v>34</c:v>
                </c:pt>
                <c:pt idx="3">
                  <c:v>13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Share of revenue (%)</c:v>
                </c:pt>
              </c:strCache>
            </c:strRef>
          </c:tx>
          <c:spPr>
            <a:solidFill>
              <a:srgbClr val="06B6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Loyal regulars</c:v>
                  </c:pt>
                  <c:pt idx="1">
                    <c:v>Deal hunters</c:v>
                  </c:pt>
                  <c:pt idx="2">
                    <c:v>New explorers</c:v>
                  </c:pt>
                  <c:pt idx="3">
                    <c:v>Dormant drifters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48</c:v>
                </c:pt>
                <c:pt idx="1">
                  <c:v>27</c:v>
                </c:pt>
                <c:pt idx="2">
                  <c:v>21</c:v>
                </c:pt>
                <c:pt idx="3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4365A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4A3B8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824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24365A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1420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CBD5E1"/>
              </a:solidFill>
              <a:latin typeface="Segoe UI"/>
              <a:cs typeface="Segoe UI"/>
            </a:defRPr>
          </a:pPr>
          <a:endParaRPr lang="en-US"/>
        </a:p>
      </c:txPr>
    </c:legend>
    <c:plotVisOnly val="1"/>
    <c:dispBlanksAs val="span"/>
  </c:chart>
  <c:spPr>
    <a:solidFill>
      <a:srgbClr val="0D1420"/>
    </a:solidFill>
    <a:ln w="12700" cap="flat">
      <a:solidFill>
        <a:srgbClr val="24365A"/>
      </a:solidFill>
    </a:ln>
    <a:effectLst/>
  </c:sp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 frequency (indexed)</c:v>
                </c:pt>
              </c:strCache>
            </c:strRef>
          </c:tx>
          <c:spPr>
            <a:solidFill>
              <a:srgbClr val="3B82F6"/>
            </a:solidFill>
            <a:ln w="31750" cap="flat">
              <a:solidFill>
                <a:srgbClr val="3B82F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B82F6"/>
              </a:solidFill>
              <a:ln w="9525" cap="flat">
                <a:solidFill>
                  <a:srgbClr val="3B82F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W-8</c:v>
                  </c:pt>
                  <c:pt idx="1">
                    <c:v>W-6</c:v>
                  </c:pt>
                  <c:pt idx="2">
                    <c:v>W-4</c:v>
                  </c:pt>
                  <c:pt idx="3">
                    <c:v>W-2</c:v>
                  </c:pt>
                  <c:pt idx="4">
                    <c:v>W0</c:v>
                  </c:pt>
                  <c:pt idx="5">
                    <c:v>W+2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88</c:v>
                </c:pt>
                <c:pt idx="2">
                  <c:v>72</c:v>
                </c:pt>
                <c:pt idx="3">
                  <c:v>55</c:v>
                </c:pt>
                <c:pt idx="4">
                  <c:v>40</c:v>
                </c:pt>
                <c:pt idx="5">
                  <c:v>35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Category breadth (indexed)</c:v>
                </c:pt>
              </c:strCache>
            </c:strRef>
          </c:tx>
          <c:spPr>
            <a:solidFill>
              <a:srgbClr val="06B6D4"/>
            </a:solidFill>
            <a:ln w="31750" cap="flat">
              <a:solidFill>
                <a:srgbClr val="06B6D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6B6D4"/>
              </a:solidFill>
              <a:ln w="9525" cap="flat">
                <a:solidFill>
                  <a:srgbClr val="06B6D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W-8</c:v>
                  </c:pt>
                  <c:pt idx="1">
                    <c:v>W-6</c:v>
                  </c:pt>
                  <c:pt idx="2">
                    <c:v>W-4</c:v>
                  </c:pt>
                  <c:pt idx="3">
                    <c:v>W-2</c:v>
                  </c:pt>
                  <c:pt idx="4">
                    <c:v>W0</c:v>
                  </c:pt>
                  <c:pt idx="5">
                    <c:v>W+2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100</c:v>
                </c:pt>
                <c:pt idx="1">
                  <c:v>95</c:v>
                </c:pt>
                <c:pt idx="2">
                  <c:v>85</c:v>
                </c:pt>
                <c:pt idx="3">
                  <c:v>70</c:v>
                </c:pt>
                <c:pt idx="4">
                  <c:v>60</c:v>
                </c:pt>
                <c:pt idx="5">
                  <c:v>55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4365A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4A3B8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824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24365A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1420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CBD5E1"/>
              </a:solidFill>
              <a:latin typeface="Segoe UI"/>
              <a:cs typeface="Segoe UI"/>
            </a:defRPr>
          </a:pPr>
          <a:endParaRPr lang="en-US"/>
        </a:p>
      </c:txPr>
    </c:legend>
    <c:plotVisOnly val="1"/>
    <c:dispBlanksAs val="span"/>
  </c:chart>
  <c:spPr>
    <a:solidFill>
      <a:srgbClr val="0D1420"/>
    </a:solidFill>
    <a:ln w="12700" cap="flat">
      <a:solidFill>
        <a:srgbClr val="24365A"/>
      </a:solidFill>
    </a:ln>
    <a:effectLst/>
  </c:sp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Breakdown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B82F6"/>
              </a:solidFill>
              <a:effectLst/>
            </c:spPr>
          </c:dPt>
          <c:dPt>
            <c:idx val="1"/>
            <c:bubble3D val="0"/>
            <c:spPr>
              <a:solidFill>
                <a:srgbClr val="06B6D4"/>
              </a:solidFill>
              <a:effectLst/>
            </c:spPr>
          </c:dPt>
          <c:dPt>
            <c:idx val="2"/>
            <c:bubble3D val="0"/>
            <c:spPr>
              <a:solidFill>
                <a:srgbClr val="22D3A0"/>
              </a:solidFill>
              <a:effectLst/>
            </c:spPr>
          </c:dPt>
          <c:dPt>
            <c:idx val="3"/>
            <c:bubble3D val="0"/>
            <c:spPr>
              <a:solidFill>
                <a:srgbClr val="F59E0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E2E8F0"/>
                      </a:solidFill>
                      <a:latin typeface="Segoe U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E2E8F0"/>
                      </a:solidFill>
                      <a:latin typeface="Segoe U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E2E8F0"/>
                      </a:solidFill>
                      <a:latin typeface="Segoe U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E2E8F0"/>
                      </a:solidFill>
                      <a:latin typeface="Segoe U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Adopted and retained</c:v>
                </c:pt>
                <c:pt idx="1">
                  <c:v>Used once, lapsed</c:v>
                </c:pt>
                <c:pt idx="2">
                  <c:v>Late adopters</c:v>
                </c:pt>
                <c:pt idx="3">
                  <c:v>Never tried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30</c:v>
                </c:pt>
                <c:pt idx="1">
                  <c:v>25</c:v>
                </c:pt>
                <c:pt idx="2">
                  <c:v>20</c:v>
                </c:pt>
                <c:pt idx="3">
                  <c:v>25</c:v>
                </c:pt>
              </c:numCache>
            </c:numRef>
          </c:val>
        </c:ser>
        <c:firstSliceAng val="0"/>
        <c:holeSize val="62"/>
      </c:doughnutChart>
      <c:spPr>
        <a:solidFill>
          <a:srgbClr val="0D1420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CBD5E1"/>
              </a:solidFill>
              <a:latin typeface="Segoe UI"/>
              <a:cs typeface="Segoe UI"/>
            </a:defRPr>
          </a:pPr>
          <a:endParaRPr lang="en-US"/>
        </a:p>
      </c:txPr>
    </c:legend>
    <c:plotVisOnly val="1"/>
    <c:dispBlanksAs val="span"/>
  </c:chart>
  <c:spPr>
    <a:solidFill>
      <a:srgbClr val="0D1420"/>
    </a:solidFill>
    <a:ln w="12700" cap="flat">
      <a:solidFill>
        <a:srgbClr val="24365A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830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STUDY · E-COMMERCE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106070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Analytics: Segmentation and Churn</a:t>
            </a:r>
            <a:endParaRPr lang="en-US" sz="4100" dirty="0"/>
          </a:p>
        </p:txBody>
      </p:sp>
      <p:sp>
        <p:nvSpPr>
          <p:cNvPr id="6" name="Text 4"/>
          <p:cNvSpPr/>
          <p:nvPr/>
        </p:nvSpPr>
        <p:spPr>
          <a:xfrm>
            <a:off x="822960" y="402336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e-commerce data, real reviewers, decisions instead of dashboards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5440680"/>
            <a:ext cx="411480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59612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Rezalian Vatiady · Zalin Labs · 2026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698480" y="638251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14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AGENDA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this deck covers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868680" y="2112264"/>
            <a:ext cx="420624" cy="420624"/>
          </a:xfrm>
          <a:prstGeom prst="ellipse">
            <a:avLst/>
          </a:prstGeom>
          <a:solidFill>
            <a:srgbClr val="111A2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1226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35608" y="205740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engagement: RevoU final project reviewed by the Tokopedia Analytics team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68680" y="3044952"/>
            <a:ext cx="420624" cy="420624"/>
          </a:xfrm>
          <a:prstGeom prst="ellipse">
            <a:avLst/>
          </a:prstGeom>
          <a:solidFill>
            <a:srgbClr val="111A2E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0449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35608" y="2990088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Segmentation as a hypothesis, not a clustering job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68680" y="3977640"/>
            <a:ext cx="420624" cy="420624"/>
          </a:xfrm>
          <a:prstGeom prst="ellipse">
            <a:avLst/>
          </a:prstGeom>
          <a:solidFill>
            <a:srgbClr val="111A2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97764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35608" y="3922776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Churn as behavioral drift with a memory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355080" y="2112264"/>
            <a:ext cx="420624" cy="420624"/>
          </a:xfrm>
          <a:prstGeom prst="ellipse">
            <a:avLst/>
          </a:prstGeom>
          <a:solidFill>
            <a:srgbClr val="111A2E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211226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22008" y="205740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adoption: launch curves versus retention outcomes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355080" y="3044952"/>
            <a:ext cx="420624" cy="420624"/>
          </a:xfrm>
          <a:prstGeom prst="ellipse">
            <a:avLst/>
          </a:prstGeom>
          <a:solidFill>
            <a:srgbClr val="111A2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30449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22008" y="2990088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Dashboards and recommendations that mirror the organization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0698480" y="638251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14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ENGAGEMENT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data, external reviewers, positive evaluation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104241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Freelance data analytics engagement with RevoU, Aug 2022 - Sep 2022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 project on real e-commerce business data, evaluated by the Tokopedia Analytics team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Delivered with a positive evaluation from Tokopedia Analytics reviewers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Toolkit: Python for analysis, SQL for extraction, Tableau for delivery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Scope: segmentation, churn analysis, feature adoption, and KPI dashboards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698480" y="638251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14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BRIEF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dataset, four questions that mattered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2423160" cy="2697480"/>
          </a:xfrm>
          <a:prstGeom prst="roundRect">
            <a:avLst>
              <a:gd name="adj" fmla="val 3019"/>
            </a:avLst>
          </a:prstGeom>
          <a:solidFill>
            <a:srgbClr val="111A2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51460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960120" y="352044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 workstreams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005840" y="406908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Segmentation, churn, feature adoption, and KPI dashboards on one dataset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20440" y="2194560"/>
            <a:ext cx="2423160" cy="2697480"/>
          </a:xfrm>
          <a:prstGeom prst="roundRect">
            <a:avLst>
              <a:gd name="adj" fmla="val 3019"/>
            </a:avLst>
          </a:prstGeom>
          <a:solidFill>
            <a:srgbClr val="111A2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251460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657600" y="352044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tools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703320" y="406908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Python, SQL, and Tableau covered the path from extraction to executive views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2194560"/>
            <a:ext cx="2423160" cy="2697480"/>
          </a:xfrm>
          <a:prstGeom prst="roundRect">
            <a:avLst>
              <a:gd name="adj" fmla="val 3019"/>
            </a:avLst>
          </a:prstGeom>
          <a:solidFill>
            <a:srgbClr val="111A2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251460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2D3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355080" y="352044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layers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00800" y="406908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Executive, middle, and operational views mirrored how the organization decides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915400" y="2194560"/>
            <a:ext cx="2423160" cy="2697480"/>
          </a:xfrm>
          <a:prstGeom prst="roundRect">
            <a:avLst>
              <a:gd name="adj" fmla="val 3019"/>
            </a:avLst>
          </a:prstGeom>
          <a:solidFill>
            <a:srgbClr val="111A2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52560" y="251460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9052560" y="352044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Segments actionable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9098280" y="406908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segment carried a behavior story and a recommended action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22960" y="541324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5504688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The bar every deliverable had to clear: it must change a decision.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698480" y="638251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14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ANALYTICS PIPELINE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raw e-commerce data to recommended actions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774040" y="2514600"/>
            <a:ext cx="1938528" cy="2103120"/>
          </a:xfrm>
          <a:prstGeom prst="roundRect">
            <a:avLst>
              <a:gd name="adj" fmla="val 3302"/>
            </a:avLst>
          </a:prstGeom>
          <a:solidFill>
            <a:srgbClr val="111A2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2056" y="2633472"/>
            <a:ext cx="16824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02056" y="2962656"/>
            <a:ext cx="16824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 extraction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02056" y="3566160"/>
            <a:ext cx="16824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Pulled customer, order, and session data from the e-commerce database.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2726284" y="3419856"/>
            <a:ext cx="210312" cy="274320"/>
          </a:xfrm>
          <a:prstGeom prst="rightArrow">
            <a:avLst/>
          </a:prstGeom>
          <a:solidFill>
            <a:srgbClr val="06B6D4"/>
          </a:solidFill>
          <a:ln/>
        </p:spPr>
      </p:sp>
      <p:sp>
        <p:nvSpPr>
          <p:cNvPr id="11" name="Shape 9"/>
          <p:cNvSpPr/>
          <p:nvPr/>
        </p:nvSpPr>
        <p:spPr>
          <a:xfrm>
            <a:off x="2950312" y="2514600"/>
            <a:ext cx="1938528" cy="2103120"/>
          </a:xfrm>
          <a:prstGeom prst="roundRect">
            <a:avLst>
              <a:gd name="adj" fmla="val 3302"/>
            </a:avLst>
          </a:prstGeom>
          <a:solidFill>
            <a:srgbClr val="111A2E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78328" y="2633472"/>
            <a:ext cx="16824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78328" y="2962656"/>
            <a:ext cx="16824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analysis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078328" y="3566160"/>
            <a:ext cx="16824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Modeled segments, churn signals, and adoption curves on the extracted data.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4902556" y="3419856"/>
            <a:ext cx="210312" cy="274320"/>
          </a:xfrm>
          <a:prstGeom prst="rightArrow">
            <a:avLst/>
          </a:prstGeom>
          <a:solidFill>
            <a:srgbClr val="06B6D4"/>
          </a:solidFill>
          <a:ln/>
        </p:spPr>
      </p:sp>
      <p:sp>
        <p:nvSpPr>
          <p:cNvPr id="16" name="Shape 14"/>
          <p:cNvSpPr/>
          <p:nvPr/>
        </p:nvSpPr>
        <p:spPr>
          <a:xfrm>
            <a:off x="5126584" y="2514600"/>
            <a:ext cx="1938528" cy="2103120"/>
          </a:xfrm>
          <a:prstGeom prst="roundRect">
            <a:avLst>
              <a:gd name="adj" fmla="val 3302"/>
            </a:avLst>
          </a:prstGeom>
          <a:solidFill>
            <a:srgbClr val="111A2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54600" y="2633472"/>
            <a:ext cx="16824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54600" y="2962656"/>
            <a:ext cx="16824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Behavior stories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254600" y="3566160"/>
            <a:ext cx="16824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Anchored every statistical cluster to a reason it behaves that way and what would change it.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7078828" y="3419856"/>
            <a:ext cx="210312" cy="274320"/>
          </a:xfrm>
          <a:prstGeom prst="rightArrow">
            <a:avLst/>
          </a:prstGeom>
          <a:solidFill>
            <a:srgbClr val="06B6D4"/>
          </a:solidFill>
          <a:ln/>
        </p:spPr>
      </p:sp>
      <p:sp>
        <p:nvSpPr>
          <p:cNvPr id="21" name="Shape 19"/>
          <p:cNvSpPr/>
          <p:nvPr/>
        </p:nvSpPr>
        <p:spPr>
          <a:xfrm>
            <a:off x="7302856" y="2514600"/>
            <a:ext cx="1938528" cy="2103120"/>
          </a:xfrm>
          <a:prstGeom prst="roundRect">
            <a:avLst>
              <a:gd name="adj" fmla="val 3302"/>
            </a:avLst>
          </a:prstGeom>
          <a:solidFill>
            <a:srgbClr val="111A2E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30872" y="2633472"/>
            <a:ext cx="16824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30872" y="2962656"/>
            <a:ext cx="16824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Tableau dashboards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430872" y="3566160"/>
            <a:ext cx="16824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executive, diagnostic, and operational views on the same shared metrics.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9255100" y="3419856"/>
            <a:ext cx="210312" cy="274320"/>
          </a:xfrm>
          <a:prstGeom prst="rightArrow">
            <a:avLst/>
          </a:prstGeom>
          <a:solidFill>
            <a:srgbClr val="06B6D4"/>
          </a:solidFill>
          <a:ln/>
        </p:spPr>
      </p:sp>
      <p:sp>
        <p:nvSpPr>
          <p:cNvPr id="26" name="Shape 24"/>
          <p:cNvSpPr/>
          <p:nvPr/>
        </p:nvSpPr>
        <p:spPr>
          <a:xfrm>
            <a:off x="9479128" y="2514600"/>
            <a:ext cx="1938528" cy="2103120"/>
          </a:xfrm>
          <a:prstGeom prst="roundRect">
            <a:avLst>
              <a:gd name="adj" fmla="val 3302"/>
            </a:avLst>
          </a:prstGeom>
          <a:solidFill>
            <a:srgbClr val="111A2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7144" y="2633472"/>
            <a:ext cx="16824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607144" y="2962656"/>
            <a:ext cx="16824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Recommendations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607144" y="3566160"/>
            <a:ext cx="16824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 every analysis with a written action, because insight without action is trivia.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6053328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user of analytics is a decision, not a dataset.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0698480" y="638251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14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 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Views that mirror the organization</a:t>
            </a:r>
            <a:endParaRPr lang="en-US" sz="2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11680"/>
          <a:ext cx="10515600" cy="914400"/>
        </p:xfrm>
        <a:graphic>
          <a:graphicData uri="http://schemas.openxmlformats.org/drawingml/2006/table">
            <a:tbl>
              <a:tblPr/>
              <a:tblGrid>
                <a:gridCol w="3505200"/>
                <a:gridCol w="3505200"/>
                <a:gridCol w="35052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View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Audience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it answers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Executive</a:t>
                      </a:r>
                      <a:endParaRPr lang="en-US" sz="10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Leadership</a:t>
                      </a:r>
                      <a:endParaRPr lang="en-US" sz="10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handful of KPIs with thresholds and trends - is the business healthy?</a:t>
                      </a:r>
                      <a:endParaRPr lang="en-US" sz="10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Middle</a:t>
                      </a:r>
                      <a:endParaRPr lang="en-US" sz="10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Analysts and managers</a:t>
                      </a:r>
                      <a:endParaRPr lang="en-US" sz="10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same metrics sliced for diagnosis - which segment moved, and why?</a:t>
                      </a:r>
                      <a:endParaRPr lang="en-US" sz="10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10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Frontline teams</a:t>
                      </a:r>
                      <a:endParaRPr lang="en-US" sz="10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Daily granularity for the fixers - what do we act on today?</a:t>
                      </a:r>
                      <a:endParaRPr lang="en-US" sz="10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Recommendations</a:t>
                      </a:r>
                      <a:endParaRPr lang="en-US" sz="10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Every reader</a:t>
                      </a:r>
                      <a:endParaRPr lang="en-US" sz="10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written next action attached to every finding</a:t>
                      </a:r>
                      <a:endParaRPr lang="en-US" sz="10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6053328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metric set, three decision speeds - no view invented its own numbers.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0698480" y="638251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14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SEGMENTATION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hypothesis, not a clustering job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104241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Running k-means and calling five clusters insight is where most segmentation stops - this one did not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segment was anchored to a behavior story: why this group acts this way, and what would change it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algorithm proposed; the narrative disposed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two segments get the same treatment, one of them is decoration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698480" y="638251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14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SEGMENT PROFILE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Segments earned their keep by differing in behavior</a:t>
            </a:r>
            <a:endParaRPr lang="en-US" sz="27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22960" y="1874520"/>
          <a:ext cx="1051560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22960" y="541324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5504688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A fifth of customers drove nearly half the value, while 13% were already drifting away - four segments, four different plays.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6053328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Illustrative segment profile used to anchor each group to a distinct action.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0698480" y="638251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14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CHURN ANALYSIS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Churn has a memory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104241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strongest churn signals were behavioral drift, never demographics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Declining order frequency, narrowing category usage, and longer gaps between sessions led every signal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By the time a user is formally churned, the story ended weeks earlier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dashboard was designed to show the drift, not the funeral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698480" y="638251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14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BEHAVIORAL DRIFT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churn story starts weeks before the churn label</a:t>
            </a:r>
            <a:endParaRPr lang="en-US" sz="27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22960" y="1874520"/>
          <a:ext cx="1051560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22960" y="541324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5504688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Order frequency and category usage declined visibly eight weeks before formal churn - drift is the early warning.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6053328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Illustrative indexed trajectory of a churning user cohort.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0698480" y="638251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 ADOPTION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Launch is not adoption - curves told them apart</a:t>
            </a:r>
            <a:endParaRPr lang="en-US" sz="27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22960" y="1874520"/>
          <a:ext cx="1051560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22960" y="541324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5504688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Only the first bucket justified the launch - adoption curves per segment showed which features actually retained users.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6053328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Illustrative outcome mix across launched features.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0698480" y="638251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SEGMENT VS SEGMENT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two segments get the same treatment, one is decoration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5074920" cy="3611880"/>
          </a:xfrm>
          <a:prstGeom prst="roundRect">
            <a:avLst>
              <a:gd name="adj" fmla="val 2025"/>
            </a:avLst>
          </a:prstGeom>
          <a:solidFill>
            <a:srgbClr val="111A2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2402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Cluster labels only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97280" y="2834640"/>
            <a:ext cx="4553712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28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k-means returns five groups and stops there</a:t>
            </a:r>
            <a:endParaRPr lang="en-US" sz="128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28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Demographic labels describe who users are, not what they will do next</a:t>
            </a:r>
            <a:endParaRPr lang="en-US" sz="128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28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segment receives the same campaign and nothing moves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6291072" y="2011680"/>
            <a:ext cx="5074920" cy="3611880"/>
          </a:xfrm>
          <a:prstGeom prst="roundRect">
            <a:avLst>
              <a:gd name="adj" fmla="val 2025"/>
            </a:avLst>
          </a:prstGeom>
          <a:solidFill>
            <a:srgbClr val="111A2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65392" y="22402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Behavior stories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565392" y="2834640"/>
            <a:ext cx="4553712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28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cluster explains why users behave this way and what would change it</a:t>
            </a:r>
            <a:endParaRPr lang="en-US" sz="128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28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Signals track drift across orders, categories, and sessions</a:t>
            </a:r>
            <a:endParaRPr lang="en-US" sz="128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28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segment carries its own play, KPI, and owner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6053328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algorithm proposed; the narrative disposed.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698480" y="638251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LESSONS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real reviewers taught me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104241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launch is not feature adoption - track the curves, not the roadmap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Analysis without a recommended action is trivia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 is a product: the user is not the data, the user is a decision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Dashboards must mirror how the organization decides - in three speeds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698480" y="638251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4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 WITH ME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Need customer analytics that ends in decisions?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011680" y="3429000"/>
            <a:ext cx="8183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Segmentation, churn, and adoption analysis anchored to actions, not just clusters</a:t>
            </a:r>
            <a:pPr algn="ctr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Python, SQL, and Tableau, delivered the way executives and reviewers both accept</a:t>
            </a:r>
            <a:pPr algn="ctr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Available for freelance and contract engagements worldwide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566160" y="5212080"/>
            <a:ext cx="507492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376672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rezalianvatiady.github.io · github.com/rezalianvatiady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698480" y="638251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Zalin Labs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Analytics: Segmentation and Churn</dc:title>
  <dc:subject>PptxGenJS Presentation</dc:subject>
  <dc:creator>Rezalian Vatiady</dc:creator>
  <cp:lastModifiedBy>Rezalian Vatiady</cp:lastModifiedBy>
  <cp:revision>1</cp:revision>
  <dcterms:created xsi:type="dcterms:W3CDTF">2026-09-23T14:49:06Z</dcterms:created>
  <dcterms:modified xsi:type="dcterms:W3CDTF">2026-09-23T14:49:06Z</dcterms:modified>
</cp:coreProperties>
</file>