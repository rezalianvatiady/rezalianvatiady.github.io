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23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24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incidents (%)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800" u="none">
                    <a:solidFill>
                      <a:srgbClr val="E2E8F0"/>
                    </a:solidFill>
                    <a:latin typeface="Segoe U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6B6D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2D3A0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Silent schedule failures</c:v>
                  </c:pt>
                  <c:pt idx="1">
                    <c:v>Definition mismatches</c:v>
                  </c:pt>
                  <c:pt idx="2">
                    <c:v>Source quirks</c:v>
                  </c:pt>
                  <c:pt idx="3">
                    <c:v>Load discrepancies</c:v>
                  </c:pt>
                  <c:pt idx="4">
                    <c:v>Logic bugs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30</c:v>
                </c:pt>
                <c:pt idx="1">
                  <c:v>25</c:v>
                </c:pt>
                <c:pt idx="2">
                  <c:v>20</c:v>
                </c:pt>
                <c:pt idx="3">
                  <c:v>15</c:v>
                </c:pt>
                <c:pt idx="4">
                  <c:v>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800" u="none">
                  <a:solidFill>
                    <a:srgbClr val="E2E8F0"/>
                  </a:solidFill>
                  <a:latin typeface="Segoe U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4365A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94A3B8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18243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24365A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94A3B8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D1420"/>
        </a:solidFill>
        <a:ln>
          <a:noFill/>
        </a:ln>
        <a:effectLst/>
      </c:spPr>
    </c:plotArea>
    <c:plotVisOnly val="1"/>
    <c:dispBlanksAs val="span"/>
  </c:chart>
  <c:spPr>
    <a:solidFill>
      <a:srgbClr val="0D1420"/>
    </a:solidFill>
    <a:ln w="12700" cap="flat">
      <a:solidFill>
        <a:srgbClr val="24365A"/>
      </a:solidFill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Unexplained seam mismatches</c:v>
                </c:pt>
              </c:strCache>
            </c:strRef>
          </c:tx>
          <c:spPr>
            <a:solidFill>
              <a:srgbClr val="3B82F6"/>
            </a:solidFill>
            <a:ln w="31750" cap="flat">
              <a:solidFill>
                <a:srgbClr val="3B82F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B82F6"/>
              </a:solidFill>
              <a:ln w="9525" cap="flat">
                <a:solidFill>
                  <a:srgbClr val="3B82F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W1</c:v>
                  </c:pt>
                  <c:pt idx="1">
                    <c:v>W2</c:v>
                  </c:pt>
                  <c:pt idx="2">
                    <c:v>W3</c:v>
                  </c:pt>
                  <c:pt idx="3">
                    <c:v>W4</c:v>
                  </c:pt>
                  <c:pt idx="4">
                    <c:v>W5</c:v>
                  </c:pt>
                  <c:pt idx="5">
                    <c:v>W6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</c:v>
                </c:pt>
                <c:pt idx="1">
                  <c:v>11</c:v>
                </c:pt>
                <c:pt idx="2">
                  <c:v>9</c:v>
                </c:pt>
                <c:pt idx="3">
                  <c:v>7</c:v>
                </c:pt>
                <c:pt idx="4">
                  <c:v>5</c:v>
                </c:pt>
                <c:pt idx="5">
                  <c:v>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4365A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94A3B8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18243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24365A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94A3B8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D1420"/>
        </a:solidFill>
        <a:ln>
          <a:noFill/>
        </a:ln>
        <a:effectLst/>
      </c:spPr>
    </c:plotArea>
    <c:plotVisOnly val="1"/>
    <c:dispBlanksAs val="span"/>
  </c:chart>
  <c:spPr>
    <a:solidFill>
      <a:srgbClr val="0D1420"/>
    </a:solidFill>
    <a:ln w="12700" cap="flat">
      <a:solidFill>
        <a:srgbClr val="24365A"/>
      </a:solidFill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Breakdown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3B82F6"/>
              </a:solidFill>
              <a:effectLst/>
            </c:spPr>
          </c:dPt>
          <c:dPt>
            <c:idx val="1"/>
            <c:bubble3D val="0"/>
            <c:spPr>
              <a:solidFill>
                <a:srgbClr val="06B6D4"/>
              </a:solidFill>
              <a:effectLst/>
            </c:spPr>
          </c:dPt>
          <c:dPt>
            <c:idx val="2"/>
            <c:bubble3D val="0"/>
            <c:spPr>
              <a:solidFill>
                <a:srgbClr val="22D3A0"/>
              </a:solidFill>
              <a:effectLst/>
            </c:spPr>
          </c:dPt>
          <c:dPt>
            <c:idx val="3"/>
            <c:bubble3D val="0"/>
            <c:spPr>
              <a:solidFill>
                <a:srgbClr val="F59E0B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800" b="0" i="0" u="none" strike="noStrike">
                      <a:solidFill>
                        <a:srgbClr val="E2E8F0"/>
                      </a:solidFill>
                      <a:latin typeface="Segoe U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800" b="0" i="0" u="none" strike="noStrike">
                      <a:solidFill>
                        <a:srgbClr val="E2E8F0"/>
                      </a:solidFill>
                      <a:latin typeface="Segoe U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800" b="0" i="0" u="none" strike="noStrike">
                      <a:solidFill>
                        <a:srgbClr val="E2E8F0"/>
                      </a:solidFill>
                      <a:latin typeface="Segoe U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800" b="0" i="0" u="none" strike="noStrike">
                      <a:solidFill>
                        <a:srgbClr val="E2E8F0"/>
                      </a:solidFill>
                      <a:latin typeface="Segoe U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Metric definitions</c:v>
                </c:pt>
                <c:pt idx="1">
                  <c:v>Source behavior and quirks</c:v>
                </c:pt>
                <c:pt idx="2">
                  <c:v>Pipeline failures</c:v>
                </c:pt>
                <c:pt idx="3">
                  <c:v>Genuine data errors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45</c:v>
                </c:pt>
                <c:pt idx="1">
                  <c:v>25</c:v>
                </c:pt>
                <c:pt idx="2">
                  <c:v>20</c:v>
                </c:pt>
                <c:pt idx="3">
                  <c:v>10</c:v>
                </c:pt>
              </c:numCache>
            </c:numRef>
          </c:val>
        </c:ser>
        <c:firstSliceAng val="0"/>
        <c:holeSize val="60"/>
      </c:doughnutChart>
      <c:spPr>
        <a:solidFill>
          <a:srgbClr val="0D1420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800">
              <a:solidFill>
                <a:srgbClr val="CBD5E1"/>
              </a:solidFill>
              <a:latin typeface="Segoe UI"/>
              <a:cs typeface="Segoe UI"/>
            </a:defRPr>
          </a:pPr>
          <a:endParaRPr lang="en-US"/>
        </a:p>
      </c:txPr>
    </c:legend>
    <c:plotVisOnly val="1"/>
    <c:dispBlanksAs val="span"/>
  </c:chart>
  <c:spPr>
    <a:solidFill>
      <a:srgbClr val="0D1420"/>
    </a:solidFill>
    <a:ln w="12700" cap="flat">
      <a:solidFill>
        <a:srgbClr val="24365A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Opening: introduce yourself and this deck, "Retail BI at Scale: Four Countries, One Datalake". | Transition: next up - "What this deck covers".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What this deck covers | Agenda: The operation: regional BI across Indonesia, Taiwan, Hong Kong, and Macau; The stack: Alteryx pipelines, a SQL Server datalake, and Qlik Sense dashboards; The quality playbook: reconciliation at every seam, alarms on every source; Governance: one number, one definition, one owner; What four countries teach about scale | Transition: next up - "Four markets, one datalake, daily decisions".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Four markets, one datalake, daily decisions | Transition: next up - "The operation in numbers".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The operation in numbers | Talk track: Regional BI at this scale is an operations discipline as much as a technology stack. | Transition: next up - "Data moved through four layers before leadership saw it".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Data moved through four layers before leadership saw it | Talk track: Every seam between layers was a reconciliation point, not a leap of faith. | Transition: next up - "What I owned in the regional operation".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What I owned in the regional operation | Talk track: Five ownership areas, one thread: nothing was allowed to fail quietly. | Transition: next up - "Reconciliation is a property, not a project".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Reconciliation is a property, not a project | Transition: next up - "Most reporting incidents were not logic bugs".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Most reporting incidents were not logic bugs | Insight: Instrumenting schedules and definitions prevented more incidents than fixing code ever did. | Talk track: Illustrative distribution of reporting-incident causes across the operation. | Transition: next up - "One number, one definition, one owner".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One number, one definition, one owner | Transition: next up - "Reconciliation catches drift before leadership does".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Reconciliation catches drift before leadership does | Insight: Reconciliation on every load drove unexplained mismatches steadily toward zero. | Talk track: Illustrative weekly trend of unexplained mismatches at reconciliation seams. | Transition: next up - "Most cross-market fights were definitions, not data".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Most cross-market fights were definitions, not data | Insight: The fix for most disputes was a registry entry, not a code change. | Talk track: Illustrative breakdown of cross-market data disagreements. | Transition: next up - "Scale breaks definitions before pipelines".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Scale breaks definitions before pipelines | Talk track: Multi-market BI is an agreement problem wearing a technology costume. | Transition: next up - "What four countries taught me about BI at scale".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What four countries taught me about BI at scale | Transition: next up - "Need BI your whole region can trust?".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Need BI your whole region can trust? | Transition: close with the call to action on the contact slide, invite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7373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4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CASE STUDY · RETAIL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2240280"/>
            <a:ext cx="1060704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BI at Scale: Four Countries, One Datalake</a:t>
            </a:r>
            <a:endParaRPr lang="en-US" sz="4100" dirty="0"/>
          </a:p>
        </p:txBody>
      </p:sp>
      <p:sp>
        <p:nvSpPr>
          <p:cNvPr id="6" name="Text 4"/>
          <p:cNvSpPr/>
          <p:nvPr/>
        </p:nvSpPr>
        <p:spPr>
          <a:xfrm>
            <a:off x="822960" y="397764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 markets, one datalake, zero tolerance for numbers that quietly disagree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22960" y="5349240"/>
            <a:ext cx="4114800" cy="0"/>
          </a:xfrm>
          <a:prstGeom prst="line">
            <a:avLst/>
          </a:prstGeom>
          <a:noFill/>
          <a:ln w="3175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553212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Rezalian Vatiady · Zalin Labs · 2026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/ 14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AGENDA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this deck covers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868680" y="2103120"/>
            <a:ext cx="457200" cy="457200"/>
          </a:xfrm>
          <a:prstGeom prst="ellipse">
            <a:avLst/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72184" y="2011680"/>
            <a:ext cx="444398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operation: regional BI across Indonesia, Taiwan, Hong Kong, and Macau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868680" y="3182112"/>
            <a:ext cx="457200" cy="457200"/>
          </a:xfrm>
          <a:prstGeom prst="ellipse">
            <a:avLst/>
          </a:prstGeom>
          <a:solidFill>
            <a:srgbClr val="111A2E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318211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72184" y="3090672"/>
            <a:ext cx="444398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stack: Alteryx pipelines, a SQL Server datalake, and Qlik Sense dashboards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868680" y="4261104"/>
            <a:ext cx="457200" cy="457200"/>
          </a:xfrm>
          <a:prstGeom prst="ellipse">
            <a:avLst/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426110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472184" y="4169664"/>
            <a:ext cx="444398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quality playbook: reconciliation at every seam, alarms on every source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355080" y="2103120"/>
            <a:ext cx="457200" cy="457200"/>
          </a:xfrm>
          <a:prstGeom prst="ellipse">
            <a:avLst/>
          </a:prstGeom>
          <a:solidFill>
            <a:srgbClr val="111A2E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55080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958584" y="2011680"/>
            <a:ext cx="444398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Governance: one number, one definition, one owner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6355080" y="3182112"/>
            <a:ext cx="457200" cy="457200"/>
          </a:xfrm>
          <a:prstGeom prst="ellipse">
            <a:avLst/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55080" y="318211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958584" y="3090672"/>
            <a:ext cx="444398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four countries teach about scale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/ 14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OPERATION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 markets, one datalake, daily decisions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868680" y="1965960"/>
            <a:ext cx="1042416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Regional BI operations across Indonesia, Taiwan, Hong Kong, and Macau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Role: Regional Business Intelligence Specialist, Oct 2023 - Mar 2024, IKEA Indonesia (PT Rumah Mebel Nusantara)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Audience: regional leadership, country teams, and store operations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datalake served every market - and every market argued with it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/ 14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SCALE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 in numbers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822960" y="1965960"/>
            <a:ext cx="2423160" cy="3154680"/>
          </a:xfrm>
          <a:prstGeom prst="roundRect">
            <a:avLst>
              <a:gd name="adj" fmla="val 3019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219456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3B82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960120" y="3200400"/>
            <a:ext cx="2148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Markets served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05840" y="4114800"/>
            <a:ext cx="2057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Indonesia, Taiwan, Hong Kong, and Macau reported from one shared datalake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520440" y="1965960"/>
            <a:ext cx="2423160" cy="3154680"/>
          </a:xfrm>
          <a:prstGeom prst="roundRect">
            <a:avLst>
              <a:gd name="adj" fmla="val 3019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0" y="219456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3657600" y="3200400"/>
            <a:ext cx="2148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 BI tools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703320" y="4114800"/>
            <a:ext cx="2057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Qlik Sense, Alteryx, and MS SQL Server operated as one pipeline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217920" y="1965960"/>
            <a:ext cx="2423160" cy="3154680"/>
          </a:xfrm>
          <a:prstGeom prst="roundRect">
            <a:avLst>
              <a:gd name="adj" fmla="val 3019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5080" y="219456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2D3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6355080" y="3200400"/>
            <a:ext cx="2148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Loads reconciled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400800" y="4114800"/>
            <a:ext cx="2057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Row counts, sum checks, and sampled comparisons on every load - not quarterly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8915400" y="1965960"/>
            <a:ext cx="2423160" cy="3154680"/>
          </a:xfrm>
          <a:prstGeom prst="roundRect">
            <a:avLst>
              <a:gd name="adj" fmla="val 3019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052560" y="219456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3800" dirty="0"/>
          </a:p>
        </p:txBody>
      </p:sp>
      <p:sp>
        <p:nvSpPr>
          <p:cNvPr id="20" name="Text 18"/>
          <p:cNvSpPr/>
          <p:nvPr/>
        </p:nvSpPr>
        <p:spPr>
          <a:xfrm>
            <a:off x="9052560" y="3200400"/>
            <a:ext cx="2148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Silent failures tolerated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9098280" y="4114800"/>
            <a:ext cx="2057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Freshness alarms meant late data was escalated before it was reported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822960" y="532180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5394960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Regional BI at this scale is an operations discipline as much as a technology stack.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/ 14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STACK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moved through four layers before leadership saw it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774040" y="2331720"/>
            <a:ext cx="1938528" cy="2697480"/>
          </a:xfrm>
          <a:prstGeom prst="roundRect">
            <a:avLst>
              <a:gd name="adj" fmla="val 3302"/>
            </a:avLst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02056" y="2450592"/>
            <a:ext cx="1682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02056" y="2834640"/>
            <a:ext cx="168249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 systems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02056" y="3584448"/>
            <a:ext cx="168249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Regional store and business systems generated country-level data on their own cadences and quirks.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2726284" y="3566160"/>
            <a:ext cx="210312" cy="274320"/>
          </a:xfrm>
          <a:prstGeom prst="rightArrow">
            <a:avLst/>
          </a:prstGeom>
          <a:solidFill>
            <a:srgbClr val="06B6D4"/>
          </a:solidFill>
          <a:ln/>
        </p:spPr>
      </p:sp>
      <p:sp>
        <p:nvSpPr>
          <p:cNvPr id="11" name="Shape 9"/>
          <p:cNvSpPr/>
          <p:nvPr/>
        </p:nvSpPr>
        <p:spPr>
          <a:xfrm>
            <a:off x="2950312" y="2331720"/>
            <a:ext cx="1938528" cy="2697480"/>
          </a:xfrm>
          <a:prstGeom prst="roundRect">
            <a:avLst>
              <a:gd name="adj" fmla="val 3302"/>
            </a:avLst>
          </a:prstGeom>
          <a:solidFill>
            <a:srgbClr val="111A2E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78328" y="2450592"/>
            <a:ext cx="1682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078328" y="2834640"/>
            <a:ext cx="168249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Alteryx pipelines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078328" y="3584448"/>
            <a:ext cx="168249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Scheduled Alteryx workflows extracted, transformed, and loaded data into the datalake.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4902556" y="3566160"/>
            <a:ext cx="210312" cy="274320"/>
          </a:xfrm>
          <a:prstGeom prst="rightArrow">
            <a:avLst/>
          </a:prstGeom>
          <a:solidFill>
            <a:srgbClr val="06B6D4"/>
          </a:solidFill>
          <a:ln/>
        </p:spPr>
      </p:sp>
      <p:sp>
        <p:nvSpPr>
          <p:cNvPr id="16" name="Shape 14"/>
          <p:cNvSpPr/>
          <p:nvPr/>
        </p:nvSpPr>
        <p:spPr>
          <a:xfrm>
            <a:off x="5126584" y="2331720"/>
            <a:ext cx="1938528" cy="2697480"/>
          </a:xfrm>
          <a:prstGeom prst="roundRect">
            <a:avLst>
              <a:gd name="adj" fmla="val 3302"/>
            </a:avLst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54600" y="2450592"/>
            <a:ext cx="1682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254600" y="2834640"/>
            <a:ext cx="168249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Datalake on SQL Server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254600" y="3584448"/>
            <a:ext cx="168249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 SQL Server served as the shared foundation and single source for regional reporting.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7078828" y="3566160"/>
            <a:ext cx="210312" cy="274320"/>
          </a:xfrm>
          <a:prstGeom prst="rightArrow">
            <a:avLst/>
          </a:prstGeom>
          <a:solidFill>
            <a:srgbClr val="06B6D4"/>
          </a:solidFill>
          <a:ln/>
        </p:spPr>
      </p:sp>
      <p:sp>
        <p:nvSpPr>
          <p:cNvPr id="21" name="Shape 19"/>
          <p:cNvSpPr/>
          <p:nvPr/>
        </p:nvSpPr>
        <p:spPr>
          <a:xfrm>
            <a:off x="7302856" y="2331720"/>
            <a:ext cx="1938528" cy="2697480"/>
          </a:xfrm>
          <a:prstGeom prst="roundRect">
            <a:avLst>
              <a:gd name="adj" fmla="val 3302"/>
            </a:avLst>
          </a:prstGeom>
          <a:solidFill>
            <a:srgbClr val="111A2E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30872" y="2450592"/>
            <a:ext cx="1682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430872" y="2834640"/>
            <a:ext cx="168249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Qlik Sense dashboards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7430872" y="3584448"/>
            <a:ext cx="168249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Regional dashboards, administered through the Qlik Management Console, served all four markets.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9255100" y="3566160"/>
            <a:ext cx="210312" cy="274320"/>
          </a:xfrm>
          <a:prstGeom prst="rightArrow">
            <a:avLst/>
          </a:prstGeom>
          <a:solidFill>
            <a:srgbClr val="06B6D4"/>
          </a:solidFill>
          <a:ln/>
        </p:spPr>
      </p:sp>
      <p:sp>
        <p:nvSpPr>
          <p:cNvPr id="26" name="Shape 24"/>
          <p:cNvSpPr/>
          <p:nvPr/>
        </p:nvSpPr>
        <p:spPr>
          <a:xfrm>
            <a:off x="9479128" y="2331720"/>
            <a:ext cx="1938528" cy="2697480"/>
          </a:xfrm>
          <a:prstGeom prst="roundRect">
            <a:avLst>
              <a:gd name="adj" fmla="val 3302"/>
            </a:avLst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07144" y="2450592"/>
            <a:ext cx="1682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9607144" y="2834640"/>
            <a:ext cx="168249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Decisions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9607144" y="3584448"/>
            <a:ext cx="168249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Regional leadership and country teams acted on the numbers - or challenged them.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seam between layers was a reconciliation point, not a leap of faith.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/ 14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RESPONSIBILITIES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I owned in the regional operation</a:t>
            </a:r>
            <a:endParaRPr lang="en-US" sz="27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828800"/>
          <a:ext cx="10515600" cy="914400"/>
        </p:xfrm>
        <a:graphic>
          <a:graphicData uri="http://schemas.openxmlformats.org/drawingml/2006/table">
            <a:tbl>
              <a:tblPr/>
              <a:tblGrid>
                <a:gridCol w="3505200"/>
                <a:gridCol w="3505200"/>
                <a:gridCol w="35052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Area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Tooling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What it meant in practice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Pipeline scheduling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Alteryx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Owned the scheduled workflows feeding the datalake and their day-to-day health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Dashboard platform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Qlik Sense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Administered the Management Console behind regional dashboards in four markets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Data foundation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MS SQL Server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Kept the shared foundation dependable for every downstream report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Data quality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Datalake vs store systems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Ran reconciliation checks and discrepancy hunting between lake and sources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Alignment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BI, Regional IT, business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Turned every mismatch into a conversation with a named owner on both sides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Five ownership areas, one thread: nothing was allowed to fail quietly.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 / 14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 QUALITY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Reconciliation is a property, not a project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868680" y="1965960"/>
            <a:ext cx="1042416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Reconciliation ran at every seam: row counts, sum checks, and sampled row-level comparisons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source was profiled for expected row counts, key uniqueness, update cadence, and known quirks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Freshness alarms covered every source, because silent schedule deaths are the default state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Each discrepancy got a named owner on both sides, not just a ticket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Runbooks lived next to the pipelines, not in a wiki nobody opens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/ 14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INCIDENT SOURCES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Most reporting incidents were not logic bugs</a:t>
            </a:r>
            <a:endParaRPr lang="en-US" sz="27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22960" y="1874520"/>
          <a:ext cx="1051560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22960" y="532180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5394960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Instrumenting schedules and definitions prevented more incidents than fixing code ever did.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Illustrative distribution of reporting-incident causes across the operation.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/ 14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GOVERNANCE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number, one definition, one owner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868680" y="1965960"/>
            <a:ext cx="1042416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definition registry was the most-used document: every KPI, its formula, its scope, its owner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When two markets disagreed on a returns figure, the fix was almost never technical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Most cross-country disputes were definitions wearing the costume of data problems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Local context matters per market - standardize definitions, never cultures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Trust in the numbers is earned row by row and destroyed by one unexplained figure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 / 14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QUALITY DRIFT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Reconciliation catches drift before leadership does</a:t>
            </a:r>
            <a:endParaRPr lang="en-US" sz="27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22960" y="1874520"/>
          <a:ext cx="1051560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22960" y="532180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5394960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Reconciliation on every load drove unexplained mismatches steadily toward zero.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Illustrative weekly trend of unexplained mismatches at reconciliation seams.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/ 14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DISAGREEMENTS CAME FROM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Most cross-market fights were definitions, not data</a:t>
            </a:r>
            <a:endParaRPr lang="en-US" sz="27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22960" y="1783080"/>
          <a:ext cx="1051560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22960" y="532180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5394960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The fix for most disputes was a registry entry, not a code change.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Illustrative breakdown of cross-market data disagreements.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/ 14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PLAYBOOK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Scale breaks definitions before pipelines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822960" y="1965960"/>
            <a:ext cx="5074920" cy="3657600"/>
          </a:xfrm>
          <a:prstGeom prst="roundRect">
            <a:avLst>
              <a:gd name="adj" fmla="val 2000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2194560"/>
            <a:ext cx="4526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Without a quality playbook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97280" y="2834640"/>
            <a:ext cx="4553712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Numbers drift between datalake and store systems until someone notices in a meeting</a:t>
            </a:r>
            <a:endParaRPr lang="en-US" sz="18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Schedules die silently and reports quietly show stale data</a:t>
            </a:r>
            <a:endParaRPr lang="en-US" sz="18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Discrepancies float as tickets with no accountable owner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291072" y="1965960"/>
            <a:ext cx="5074920" cy="3657600"/>
          </a:xfrm>
          <a:prstGeom prst="roundRect">
            <a:avLst>
              <a:gd name="adj" fmla="val 2000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65392" y="2194560"/>
            <a:ext cx="4526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the playbook I ran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565392" y="2834640"/>
            <a:ext cx="4553712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Reconciliation at every load, with named owners on both sides of every mismatch</a:t>
            </a:r>
            <a:endParaRPr lang="en-US" sz="18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Freshness alarms fire before stale numbers reach leadership</a:t>
            </a:r>
            <a:endParaRPr lang="en-US" sz="18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Quirks and runbooks documented where the work actually happens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Multi-market BI is an agreement problem wearing a technology costume.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/ 14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LESSONS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four countries taught me about BI at scale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868680" y="1965960"/>
            <a:ext cx="1042416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number, one definition - governance outvalues every technical optimization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Instrument pipelines, because silent failure is the default state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Collaboration with Regional IT is a feature of the system, not overhead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Standardize definitions across markets; respect the cultures that use them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/ 14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spc="4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 WITH ME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187452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Need BI your whole region can trust?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2011680" y="3383280"/>
            <a:ext cx="818388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 run regional BI where data quality and definitions are engineered, not hoped for</a:t>
            </a:r>
            <a:pPr algn="ctr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From Alteryx pipelines to Qlik dashboards: operations that survive four markets of scrutiny</a:t>
            </a:r>
            <a:pPr algn="ctr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Available for freelance and contract engagements worldwide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566160" y="5212080"/>
            <a:ext cx="5074920" cy="0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534924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rezalianvatiady.github.io · github.com/rezalianvatiady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/ 14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Zalin Labs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Retail BI at Scale: Four Countries, One Datalake</dc:title>
  <dc:subject>PptxGenJS Presentation</dc:subject>
  <dc:creator>Rezalian Vatiady</dc:creator>
  <cp:lastModifiedBy>Rezalian Vatiady</cp:lastModifiedBy>
  <cp:revision>1</cp:revision>
  <dcterms:created xsi:type="dcterms:W3CDTF">2026-09-23T19:21:28Z</dcterms:created>
  <dcterms:modified xsi:type="dcterms:W3CDTF">2026-09-23T19:21:28Z</dcterms:modified>
</cp:coreProperties>
</file>